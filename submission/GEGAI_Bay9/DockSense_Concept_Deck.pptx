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58368" y="402336"/>
            <a:ext cx="8229600" cy="274320"/>
          </a:xfrm>
          <a:prstGeom prst="rect">
            <a:avLst/>
          </a:prstGeom>
          <a:noFill/>
        </p:spPr>
        <p:txBody>
          <a:bodyPr wrap="square" lIns="0" rIns="0" tIns="0" bIns="0">
            <a:spAutoFit/>
          </a:bodyPr>
          <a:lstStyle/>
          <a:p>
            <a:pPr algn="l">
              <a:lnSpc>
                <a:spcPct val="118000"/>
              </a:lnSpc>
            </a:pPr>
            <a:r>
              <a:rPr sz="1050" b="1">
                <a:solidFill>
                  <a:srgbClr val="C8961A"/>
                </a:solidFill>
                <a:latin typeface="IBM Plex Mono"/>
              </a:rPr>
              <a:t>DOCKSENSE   LOADING-BAY VIDEO INTELLIGENCE</a:t>
            </a:r>
          </a:p>
        </p:txBody>
      </p:sp>
      <p:sp>
        <p:nvSpPr>
          <p:cNvPr id="3" name="TextBox 2"/>
          <p:cNvSpPr txBox="1"/>
          <p:nvPr/>
        </p:nvSpPr>
        <p:spPr>
          <a:xfrm>
            <a:off x="10253167" y="402336"/>
            <a:ext cx="1280160" cy="274320"/>
          </a:xfrm>
          <a:prstGeom prst="rect">
            <a:avLst/>
          </a:prstGeom>
          <a:noFill/>
        </p:spPr>
        <p:txBody>
          <a:bodyPr wrap="square" lIns="0" rIns="0" tIns="0" bIns="0">
            <a:spAutoFit/>
          </a:bodyPr>
          <a:lstStyle/>
          <a:p>
            <a:pPr algn="r">
              <a:lnSpc>
                <a:spcPct val="118000"/>
              </a:lnSpc>
            </a:pPr>
            <a:r>
              <a:rPr sz="1050" b="0">
                <a:solidFill>
                  <a:srgbClr val="728A93"/>
                </a:solidFill>
                <a:latin typeface="IBM Plex Mono"/>
              </a:rPr>
              <a:t>01 / 06</a:t>
            </a:r>
          </a:p>
        </p:txBody>
      </p:sp>
      <p:sp>
        <p:nvSpPr>
          <p:cNvPr id="4" name="Rectangle 3"/>
          <p:cNvSpPr/>
          <p:nvPr/>
        </p:nvSpPr>
        <p:spPr>
          <a:xfrm>
            <a:off x="658368" y="713232"/>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234440"/>
            <a:ext cx="7498079" cy="2011680"/>
          </a:xfrm>
          <a:prstGeom prst="rect">
            <a:avLst/>
          </a:prstGeom>
          <a:noFill/>
        </p:spPr>
        <p:txBody>
          <a:bodyPr wrap="square" lIns="0" rIns="0" tIns="0" bIns="0">
            <a:spAutoFit/>
          </a:bodyPr>
          <a:lstStyle/>
          <a:p>
            <a:pPr algn="l">
              <a:lnSpc>
                <a:spcPct val="95000"/>
              </a:lnSpc>
            </a:pPr>
            <a:r>
              <a:rPr sz="6200" b="1">
                <a:solidFill>
                  <a:srgbClr val="12191C"/>
                </a:solidFill>
                <a:latin typeface="Archivo"/>
              </a:rPr>
              <a:t>The camera</a:t>
            </a:r>
          </a:p>
          <a:p>
            <a:pPr algn="l">
              <a:lnSpc>
                <a:spcPct val="95000"/>
              </a:lnSpc>
            </a:pPr>
            <a:r>
              <a:rPr sz="6200" b="1">
                <a:solidFill>
                  <a:srgbClr val="12191C"/>
                </a:solidFill>
                <a:latin typeface="Archivo"/>
              </a:rPr>
              <a:t>already saw it.</a:t>
            </a:r>
          </a:p>
        </p:txBody>
      </p:sp>
      <p:sp>
        <p:nvSpPr>
          <p:cNvPr id="6" name="Rectangle 5"/>
          <p:cNvSpPr/>
          <p:nvPr/>
        </p:nvSpPr>
        <p:spPr>
          <a:xfrm>
            <a:off x="658368" y="3401568"/>
            <a:ext cx="45720" cy="566928"/>
          </a:xfrm>
          <a:prstGeom prst="rect">
            <a:avLst/>
          </a:prstGeom>
          <a:solidFill>
            <a:srgbClr val="C89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01568"/>
            <a:ext cx="5852160" cy="731520"/>
          </a:xfrm>
          <a:prstGeom prst="rect">
            <a:avLst/>
          </a:prstGeom>
          <a:noFill/>
        </p:spPr>
        <p:txBody>
          <a:bodyPr wrap="square" lIns="0" rIns="0" tIns="0" bIns="0">
            <a:spAutoFit/>
          </a:bodyPr>
          <a:lstStyle/>
          <a:p>
            <a:pPr algn="l">
              <a:lnSpc>
                <a:spcPct val="115000"/>
              </a:lnSpc>
            </a:pPr>
            <a:r>
              <a:rPr sz="1900" b="1">
                <a:solidFill>
                  <a:srgbClr val="12191C"/>
                </a:solidFill>
                <a:latin typeface="Archivo"/>
              </a:rPr>
              <a:t>A single frame cannot tell you whether a box was placed or dropped. That lives in a sequence.</a:t>
            </a:r>
          </a:p>
        </p:txBody>
      </p:sp>
      <p:sp>
        <p:nvSpPr>
          <p:cNvPr id="8" name="TextBox 7"/>
          <p:cNvSpPr txBox="1"/>
          <p:nvPr/>
        </p:nvSpPr>
        <p:spPr>
          <a:xfrm>
            <a:off x="658368" y="4343400"/>
            <a:ext cx="10424160" cy="1280160"/>
          </a:xfrm>
          <a:prstGeom prst="rect">
            <a:avLst/>
          </a:prstGeom>
          <a:noFill/>
        </p:spPr>
        <p:txBody>
          <a:bodyPr wrap="square" lIns="0" rIns="0" tIns="0" bIns="0">
            <a:spAutoFit/>
          </a:bodyPr>
          <a:lstStyle/>
          <a:p>
            <a:pPr algn="l">
              <a:lnSpc>
                <a:spcPct val="140000"/>
              </a:lnSpc>
            </a:pPr>
            <a:r>
              <a:rPr sz="1300" b="0">
                <a:solidFill>
                  <a:srgbClr val="42555C"/>
                </a:solidFill>
                <a:latin typeface="IBM Plex Sans"/>
              </a:rPr>
              <a:t>Warehouses record everything and watch none of it. CCTV produces evidence after a damage claim, by which point the product is broken, the cause is disputed, and the handling pattern that caused it has repeated unnoticed for weeks. DockSense turns loading-bay video into reviewable incidents: what happened, which entity, when, why it was judged risky, and how sure the system is.</a:t>
            </a:r>
          </a:p>
        </p:txBody>
      </p:sp>
      <p:sp>
        <p:nvSpPr>
          <p:cNvPr id="9" name="Rectangle 8"/>
          <p:cNvSpPr/>
          <p:nvPr/>
        </p:nvSpPr>
        <p:spPr>
          <a:xfrm>
            <a:off x="658368" y="5742432"/>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897880"/>
            <a:ext cx="2651760" cy="548640"/>
          </a:xfrm>
          <a:prstGeom prst="rect">
            <a:avLst/>
          </a:prstGeom>
          <a:noFill/>
        </p:spPr>
        <p:txBody>
          <a:bodyPr wrap="square" lIns="0" rIns="0" tIns="0" bIns="0">
            <a:spAutoFit/>
          </a:bodyPr>
          <a:lstStyle/>
          <a:p>
            <a:pPr algn="l">
              <a:lnSpc>
                <a:spcPct val="118000"/>
              </a:lnSpc>
            </a:pPr>
            <a:r>
              <a:rPr sz="900" b="0">
                <a:solidFill>
                  <a:srgbClr val="728A93"/>
                </a:solidFill>
                <a:latin typeface="IBM Plex Mono"/>
              </a:rPr>
              <a:t>BEHAVIOURS</a:t>
            </a:r>
          </a:p>
          <a:p>
            <a:pPr algn="l">
              <a:lnSpc>
                <a:spcPct val="118000"/>
              </a:lnSpc>
              <a:spcBef>
                <a:spcPts val="300"/>
              </a:spcBef>
            </a:pPr>
            <a:r>
              <a:rPr sz="1200" b="0">
                <a:solidFill>
                  <a:srgbClr val="12191C"/>
                </a:solidFill>
                <a:latin typeface="IBM Plex Sans"/>
              </a:rPr>
              <a:t>12, tiered by evidence</a:t>
            </a:r>
          </a:p>
        </p:txBody>
      </p:sp>
      <p:sp>
        <p:nvSpPr>
          <p:cNvPr id="11" name="TextBox 10"/>
          <p:cNvSpPr txBox="1"/>
          <p:nvPr/>
        </p:nvSpPr>
        <p:spPr>
          <a:xfrm>
            <a:off x="3447288" y="5897880"/>
            <a:ext cx="2651760" cy="548640"/>
          </a:xfrm>
          <a:prstGeom prst="rect">
            <a:avLst/>
          </a:prstGeom>
          <a:noFill/>
        </p:spPr>
        <p:txBody>
          <a:bodyPr wrap="square" lIns="0" rIns="0" tIns="0" bIns="0">
            <a:spAutoFit/>
          </a:bodyPr>
          <a:lstStyle/>
          <a:p>
            <a:pPr algn="l">
              <a:lnSpc>
                <a:spcPct val="118000"/>
              </a:lnSpc>
            </a:pPr>
            <a:r>
              <a:rPr sz="900" b="0">
                <a:solidFill>
                  <a:srgbClr val="728A93"/>
                </a:solidFill>
                <a:latin typeface="IBM Plex Mono"/>
              </a:rPr>
              <a:t>TRAINING</a:t>
            </a:r>
          </a:p>
          <a:p>
            <a:pPr algn="l">
              <a:lnSpc>
                <a:spcPct val="118000"/>
              </a:lnSpc>
              <a:spcBef>
                <a:spcPts val="300"/>
              </a:spcBef>
            </a:pPr>
            <a:r>
              <a:rPr sz="1200" b="0">
                <a:solidFill>
                  <a:srgbClr val="12191C"/>
                </a:solidFill>
                <a:latin typeface="IBM Plex Sans"/>
              </a:rPr>
              <a:t>None — text prompts</a:t>
            </a:r>
          </a:p>
        </p:txBody>
      </p:sp>
      <p:sp>
        <p:nvSpPr>
          <p:cNvPr id="12" name="TextBox 11"/>
          <p:cNvSpPr txBox="1"/>
          <p:nvPr/>
        </p:nvSpPr>
        <p:spPr>
          <a:xfrm>
            <a:off x="6236208" y="5897880"/>
            <a:ext cx="2651760" cy="548640"/>
          </a:xfrm>
          <a:prstGeom prst="rect">
            <a:avLst/>
          </a:prstGeom>
          <a:noFill/>
        </p:spPr>
        <p:txBody>
          <a:bodyPr wrap="square" lIns="0" rIns="0" tIns="0" bIns="0">
            <a:spAutoFit/>
          </a:bodyPr>
          <a:lstStyle/>
          <a:p>
            <a:pPr algn="l">
              <a:lnSpc>
                <a:spcPct val="118000"/>
              </a:lnSpc>
            </a:pPr>
            <a:r>
              <a:rPr sz="900" b="0">
                <a:solidFill>
                  <a:srgbClr val="728A93"/>
                </a:solidFill>
                <a:latin typeface="IBM Plex Mono"/>
              </a:rPr>
              <a:t>RUNS ON</a:t>
            </a:r>
          </a:p>
          <a:p>
            <a:pPr algn="l">
              <a:lnSpc>
                <a:spcPct val="118000"/>
              </a:lnSpc>
              <a:spcBef>
                <a:spcPts val="300"/>
              </a:spcBef>
            </a:pPr>
            <a:r>
              <a:rPr sz="1200" b="0">
                <a:solidFill>
                  <a:srgbClr val="12191C"/>
                </a:solidFill>
                <a:latin typeface="IBM Plex Sans"/>
              </a:rPr>
              <a:t>Apple M3 / 8 GB, offline</a:t>
            </a:r>
          </a:p>
        </p:txBody>
      </p:sp>
      <p:sp>
        <p:nvSpPr>
          <p:cNvPr id="13" name="TextBox 12"/>
          <p:cNvSpPr txBox="1"/>
          <p:nvPr/>
        </p:nvSpPr>
        <p:spPr>
          <a:xfrm>
            <a:off x="9025128" y="5897880"/>
            <a:ext cx="2651760" cy="548640"/>
          </a:xfrm>
          <a:prstGeom prst="rect">
            <a:avLst/>
          </a:prstGeom>
          <a:noFill/>
        </p:spPr>
        <p:txBody>
          <a:bodyPr wrap="square" lIns="0" rIns="0" tIns="0" bIns="0">
            <a:spAutoFit/>
          </a:bodyPr>
          <a:lstStyle/>
          <a:p>
            <a:pPr algn="l">
              <a:lnSpc>
                <a:spcPct val="118000"/>
              </a:lnSpc>
            </a:pPr>
            <a:r>
              <a:rPr sz="900" b="0">
                <a:solidFill>
                  <a:srgbClr val="728A93"/>
                </a:solidFill>
                <a:latin typeface="IBM Plex Mono"/>
              </a:rPr>
              <a:t>TESTS</a:t>
            </a:r>
          </a:p>
          <a:p>
            <a:pPr algn="l">
              <a:lnSpc>
                <a:spcPct val="118000"/>
              </a:lnSpc>
              <a:spcBef>
                <a:spcPts val="300"/>
              </a:spcBef>
            </a:pPr>
            <a:r>
              <a:rPr sz="1200" b="0">
                <a:solidFill>
                  <a:srgbClr val="12191C"/>
                </a:solidFill>
                <a:latin typeface="IBM Plex Sans"/>
              </a:rPr>
              <a:t>143 passing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58368" y="402336"/>
            <a:ext cx="8229600" cy="274320"/>
          </a:xfrm>
          <a:prstGeom prst="rect">
            <a:avLst/>
          </a:prstGeom>
          <a:noFill/>
        </p:spPr>
        <p:txBody>
          <a:bodyPr wrap="square" lIns="0" rIns="0" tIns="0" bIns="0">
            <a:spAutoFit/>
          </a:bodyPr>
          <a:lstStyle/>
          <a:p>
            <a:pPr algn="l">
              <a:lnSpc>
                <a:spcPct val="118000"/>
              </a:lnSpc>
            </a:pPr>
            <a:r>
              <a:rPr sz="1050" b="1">
                <a:solidFill>
                  <a:srgbClr val="C8961A"/>
                </a:solidFill>
                <a:latin typeface="IBM Plex Mono"/>
              </a:rPr>
              <a:t>APPROACH   SEQUENCES, NOT FRAMES</a:t>
            </a:r>
          </a:p>
        </p:txBody>
      </p:sp>
      <p:sp>
        <p:nvSpPr>
          <p:cNvPr id="3" name="TextBox 2"/>
          <p:cNvSpPr txBox="1"/>
          <p:nvPr/>
        </p:nvSpPr>
        <p:spPr>
          <a:xfrm>
            <a:off x="10253167" y="402336"/>
            <a:ext cx="1280160" cy="274320"/>
          </a:xfrm>
          <a:prstGeom prst="rect">
            <a:avLst/>
          </a:prstGeom>
          <a:noFill/>
        </p:spPr>
        <p:txBody>
          <a:bodyPr wrap="square" lIns="0" rIns="0" tIns="0" bIns="0">
            <a:spAutoFit/>
          </a:bodyPr>
          <a:lstStyle/>
          <a:p>
            <a:pPr algn="r">
              <a:lnSpc>
                <a:spcPct val="118000"/>
              </a:lnSpc>
            </a:pPr>
            <a:r>
              <a:rPr sz="1050" b="0">
                <a:solidFill>
                  <a:srgbClr val="728A93"/>
                </a:solidFill>
                <a:latin typeface="IBM Plex Mono"/>
              </a:rPr>
              <a:t>02 / 06</a:t>
            </a:r>
          </a:p>
        </p:txBody>
      </p:sp>
      <p:sp>
        <p:nvSpPr>
          <p:cNvPr id="4" name="Rectangle 3"/>
          <p:cNvSpPr/>
          <p:nvPr/>
        </p:nvSpPr>
        <p:spPr>
          <a:xfrm>
            <a:off x="658368" y="713232"/>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051560"/>
            <a:ext cx="8686800" cy="822960"/>
          </a:xfrm>
          <a:prstGeom prst="rect">
            <a:avLst/>
          </a:prstGeom>
          <a:noFill/>
        </p:spPr>
        <p:txBody>
          <a:bodyPr wrap="square" lIns="0" rIns="0" tIns="0" bIns="0">
            <a:spAutoFit/>
          </a:bodyPr>
          <a:lstStyle/>
          <a:p>
            <a:pPr algn="l">
              <a:lnSpc>
                <a:spcPct val="102000"/>
              </a:lnSpc>
            </a:pPr>
            <a:r>
              <a:rPr sz="3300" b="1">
                <a:solidFill>
                  <a:srgbClr val="12191C"/>
                </a:solidFill>
                <a:latin typeface="Archivo"/>
              </a:rPr>
              <a:t>Track the entity, then reason over its short history.</a:t>
            </a:r>
          </a:p>
        </p:txBody>
      </p:sp>
      <p:sp>
        <p:nvSpPr>
          <p:cNvPr id="6" name="Rectangle 5"/>
          <p:cNvSpPr/>
          <p:nvPr/>
        </p:nvSpPr>
        <p:spPr>
          <a:xfrm>
            <a:off x="658368" y="2057400"/>
            <a:ext cx="1014983" cy="384048"/>
          </a:xfrm>
          <a:prstGeom prst="rect">
            <a:avLst/>
          </a:prstGeom>
          <a:solidFill>
            <a:srgbClr val="FBFCFC"/>
          </a:solidFill>
          <a:ln w="12700">
            <a:solidFill>
              <a:srgbClr val="CBD6D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0">
                <a:solidFill>
                  <a:srgbClr val="42555C"/>
                </a:solidFill>
                <a:latin typeface="IBM Plex Mono"/>
              </a:rPr>
              <a:t>video</a:t>
            </a:r>
          </a:p>
        </p:txBody>
      </p:sp>
      <p:sp>
        <p:nvSpPr>
          <p:cNvPr id="7" name="Rectangle 6"/>
          <p:cNvSpPr/>
          <p:nvPr/>
        </p:nvSpPr>
        <p:spPr>
          <a:xfrm>
            <a:off x="1673351" y="2057400"/>
            <a:ext cx="1463040" cy="384048"/>
          </a:xfrm>
          <a:prstGeom prst="rect">
            <a:avLst/>
          </a:prstGeom>
          <a:solidFill>
            <a:srgbClr val="FBFCFC"/>
          </a:solidFill>
          <a:ln w="12700">
            <a:solidFill>
              <a:srgbClr val="CBD6D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0">
                <a:solidFill>
                  <a:srgbClr val="42555C"/>
                </a:solidFill>
                <a:latin typeface="IBM Plex Mono"/>
              </a:rPr>
              <a:t>perception</a:t>
            </a:r>
          </a:p>
        </p:txBody>
      </p:sp>
      <p:sp>
        <p:nvSpPr>
          <p:cNvPr id="8" name="Rectangle 7"/>
          <p:cNvSpPr/>
          <p:nvPr/>
        </p:nvSpPr>
        <p:spPr>
          <a:xfrm>
            <a:off x="3136391" y="2057400"/>
            <a:ext cx="1283817" cy="384048"/>
          </a:xfrm>
          <a:prstGeom prst="rect">
            <a:avLst/>
          </a:prstGeom>
          <a:solidFill>
            <a:srgbClr val="F6EED9"/>
          </a:solidFill>
          <a:ln w="12700">
            <a:solidFill>
              <a:srgbClr val="C8961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1">
                <a:solidFill>
                  <a:srgbClr val="12191C"/>
                </a:solidFill>
                <a:latin typeface="IBM Plex Mono"/>
              </a:rPr>
              <a:t>tracking</a:t>
            </a:r>
          </a:p>
        </p:txBody>
      </p:sp>
      <p:sp>
        <p:nvSpPr>
          <p:cNvPr id="9" name="Rectangle 8"/>
          <p:cNvSpPr/>
          <p:nvPr/>
        </p:nvSpPr>
        <p:spPr>
          <a:xfrm>
            <a:off x="4420208" y="2057400"/>
            <a:ext cx="2090318" cy="384048"/>
          </a:xfrm>
          <a:prstGeom prst="rect">
            <a:avLst/>
          </a:prstGeom>
          <a:solidFill>
            <a:srgbClr val="F6EED9"/>
          </a:solidFill>
          <a:ln w="12700">
            <a:solidFill>
              <a:srgbClr val="C8961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1">
                <a:solidFill>
                  <a:srgbClr val="12191C"/>
                </a:solidFill>
                <a:latin typeface="IBM Plex Mono"/>
              </a:rPr>
              <a:t>temporal features</a:t>
            </a:r>
          </a:p>
        </p:txBody>
      </p:sp>
      <p:sp>
        <p:nvSpPr>
          <p:cNvPr id="10" name="Rectangle 9"/>
          <p:cNvSpPr/>
          <p:nvPr/>
        </p:nvSpPr>
        <p:spPr>
          <a:xfrm>
            <a:off x="6510526" y="2057400"/>
            <a:ext cx="1731873" cy="384048"/>
          </a:xfrm>
          <a:prstGeom prst="rect">
            <a:avLst/>
          </a:prstGeom>
          <a:solidFill>
            <a:srgbClr val="F6EED9"/>
          </a:solidFill>
          <a:ln w="12700">
            <a:solidFill>
              <a:srgbClr val="C8961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1">
                <a:solidFill>
                  <a:srgbClr val="12191C"/>
                </a:solidFill>
                <a:latin typeface="IBM Plex Mono"/>
              </a:rPr>
              <a:t>12 behaviours</a:t>
            </a:r>
          </a:p>
        </p:txBody>
      </p:sp>
      <p:sp>
        <p:nvSpPr>
          <p:cNvPr id="11" name="Rectangle 10"/>
          <p:cNvSpPr/>
          <p:nvPr/>
        </p:nvSpPr>
        <p:spPr>
          <a:xfrm>
            <a:off x="8242399" y="2057400"/>
            <a:ext cx="1552651" cy="384048"/>
          </a:xfrm>
          <a:prstGeom prst="rect">
            <a:avLst/>
          </a:prstGeom>
          <a:solidFill>
            <a:srgbClr val="F6EED9"/>
          </a:solidFill>
          <a:ln w="12700">
            <a:solidFill>
              <a:srgbClr val="C8961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1">
                <a:solidFill>
                  <a:srgbClr val="12191C"/>
                </a:solidFill>
                <a:latin typeface="IBM Plex Mono"/>
              </a:rPr>
              <a:t>event graph</a:t>
            </a:r>
          </a:p>
        </p:txBody>
      </p:sp>
      <p:sp>
        <p:nvSpPr>
          <p:cNvPr id="12" name="Rectangle 11"/>
          <p:cNvSpPr/>
          <p:nvPr/>
        </p:nvSpPr>
        <p:spPr>
          <a:xfrm>
            <a:off x="9795050" y="2057400"/>
            <a:ext cx="925372" cy="384048"/>
          </a:xfrm>
          <a:prstGeom prst="rect">
            <a:avLst/>
          </a:prstGeom>
          <a:solidFill>
            <a:srgbClr val="FBFCFC"/>
          </a:solidFill>
          <a:ln w="12700">
            <a:solidFill>
              <a:srgbClr val="CBD6D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0">
                <a:solidFill>
                  <a:srgbClr val="42555C"/>
                </a:solidFill>
                <a:latin typeface="IBM Plex Mono"/>
              </a:rPr>
              <a:t>risk</a:t>
            </a:r>
          </a:p>
        </p:txBody>
      </p:sp>
      <p:sp>
        <p:nvSpPr>
          <p:cNvPr id="13" name="Rectangle 12"/>
          <p:cNvSpPr/>
          <p:nvPr/>
        </p:nvSpPr>
        <p:spPr>
          <a:xfrm>
            <a:off x="10720422" y="2057400"/>
            <a:ext cx="1283817" cy="384048"/>
          </a:xfrm>
          <a:prstGeom prst="rect">
            <a:avLst/>
          </a:prstGeom>
          <a:solidFill>
            <a:srgbClr val="FBFCFC"/>
          </a:solidFill>
          <a:ln w="12700">
            <a:solidFill>
              <a:srgbClr val="CBD6D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0">
                <a:solidFill>
                  <a:srgbClr val="42555C"/>
                </a:solidFill>
                <a:latin typeface="IBM Plex Mono"/>
              </a:rPr>
              <a:t>incident</a:t>
            </a:r>
          </a:p>
        </p:txBody>
      </p:sp>
      <p:sp>
        <p:nvSpPr>
          <p:cNvPr id="14" name="Rectangle 13"/>
          <p:cNvSpPr/>
          <p:nvPr/>
        </p:nvSpPr>
        <p:spPr>
          <a:xfrm>
            <a:off x="12004239" y="2057400"/>
            <a:ext cx="1194206" cy="384048"/>
          </a:xfrm>
          <a:prstGeom prst="rect">
            <a:avLst/>
          </a:prstGeom>
          <a:solidFill>
            <a:srgbClr val="FBFCFC"/>
          </a:solidFill>
          <a:ln w="12700">
            <a:solidFill>
              <a:srgbClr val="CBD6D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000" b="0">
                <a:solidFill>
                  <a:srgbClr val="42555C"/>
                </a:solidFill>
                <a:latin typeface="IBM Plex Mono"/>
              </a:rPr>
              <a:t>console</a:t>
            </a:r>
          </a:p>
        </p:txBody>
      </p:sp>
      <p:sp>
        <p:nvSpPr>
          <p:cNvPr id="15" name="TextBox 14"/>
          <p:cNvSpPr txBox="1"/>
          <p:nvPr/>
        </p:nvSpPr>
        <p:spPr>
          <a:xfrm>
            <a:off x="658368" y="2697480"/>
            <a:ext cx="10332720" cy="640080"/>
          </a:xfrm>
          <a:prstGeom prst="rect">
            <a:avLst/>
          </a:prstGeom>
          <a:noFill/>
        </p:spPr>
        <p:txBody>
          <a:bodyPr wrap="square" lIns="0" rIns="0" tIns="0" bIns="0">
            <a:spAutoFit/>
          </a:bodyPr>
          <a:lstStyle/>
          <a:p>
            <a:pPr algn="l">
              <a:lnSpc>
                <a:spcPct val="140000"/>
              </a:lnSpc>
            </a:pPr>
            <a:r>
              <a:rPr sz="1300" b="0">
                <a:solidFill>
                  <a:srgbClr val="42555C"/>
                </a:solidFill>
                <a:latin typeface="IBM Plex Sans"/>
              </a:rPr>
              <a:t>The highlighted stages decide whether a movement was a drop, a throw, a drag or a careful placement. They cost under one millisecond per frame — detection is ~99% of the pipeline, so the part that differentiates this system is effectively free.</a:t>
            </a:r>
          </a:p>
        </p:txBody>
      </p:sp>
      <p:sp>
        <p:nvSpPr>
          <p:cNvPr id="16" name="TextBox 15"/>
          <p:cNvSpPr txBox="1"/>
          <p:nvPr/>
        </p:nvSpPr>
        <p:spPr>
          <a:xfrm>
            <a:off x="658368" y="3794760"/>
            <a:ext cx="3291840" cy="274320"/>
          </a:xfrm>
          <a:prstGeom prst="rect">
            <a:avLst/>
          </a:prstGeom>
          <a:noFill/>
        </p:spPr>
        <p:txBody>
          <a:bodyPr wrap="square" lIns="0" rIns="0" tIns="0" bIns="0">
            <a:spAutoFit/>
          </a:bodyPr>
          <a:lstStyle/>
          <a:p>
            <a:pPr algn="l">
              <a:lnSpc>
                <a:spcPct val="118000"/>
              </a:lnSpc>
            </a:pPr>
            <a:r>
              <a:rPr sz="950" b="1">
                <a:solidFill>
                  <a:srgbClr val="C8961A"/>
                </a:solidFill>
                <a:latin typeface="IBM Plex Mono"/>
              </a:rPr>
              <a:t>THRESHOLDS IN OBJECT-HEIGHTS</a:t>
            </a:r>
          </a:p>
        </p:txBody>
      </p:sp>
      <p:sp>
        <p:nvSpPr>
          <p:cNvPr id="17" name="Rectangle 16"/>
          <p:cNvSpPr/>
          <p:nvPr/>
        </p:nvSpPr>
        <p:spPr>
          <a:xfrm>
            <a:off x="658368" y="4059936"/>
            <a:ext cx="3291840"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206240"/>
            <a:ext cx="3291840" cy="2011680"/>
          </a:xfrm>
          <a:prstGeom prst="rect">
            <a:avLst/>
          </a:prstGeom>
          <a:noFill/>
        </p:spPr>
        <p:txBody>
          <a:bodyPr wrap="square" lIns="0" rIns="0" tIns="0" bIns="0">
            <a:spAutoFit/>
          </a:bodyPr>
          <a:lstStyle/>
          <a:p>
            <a:pPr algn="l">
              <a:lnSpc>
                <a:spcPct val="140000"/>
              </a:lnSpc>
            </a:pPr>
            <a:r>
              <a:rPr sz="1200" b="0">
                <a:solidFill>
                  <a:srgbClr val="42555C"/>
                </a:solidFill>
                <a:latin typeface="IBM Plex Sans"/>
              </a:rPr>
              <a:t>A box falling 1.5× its own height fell the same amount whether the camera is 3 m or 8 m away. Pixel thresholds silently stop firing the moment a camera moves — and nobody notices, because the failure is silence.</a:t>
            </a:r>
          </a:p>
        </p:txBody>
      </p:sp>
      <p:sp>
        <p:nvSpPr>
          <p:cNvPr id="19" name="TextBox 18"/>
          <p:cNvSpPr txBox="1"/>
          <p:nvPr/>
        </p:nvSpPr>
        <p:spPr>
          <a:xfrm>
            <a:off x="4315968" y="3794760"/>
            <a:ext cx="3291840" cy="274320"/>
          </a:xfrm>
          <a:prstGeom prst="rect">
            <a:avLst/>
          </a:prstGeom>
          <a:noFill/>
        </p:spPr>
        <p:txBody>
          <a:bodyPr wrap="square" lIns="0" rIns="0" tIns="0" bIns="0">
            <a:spAutoFit/>
          </a:bodyPr>
          <a:lstStyle/>
          <a:p>
            <a:pPr algn="l">
              <a:lnSpc>
                <a:spcPct val="118000"/>
              </a:lnSpc>
            </a:pPr>
            <a:r>
              <a:rPr sz="950" b="1">
                <a:solidFill>
                  <a:srgbClr val="C8961A"/>
                </a:solidFill>
                <a:latin typeface="IBM Plex Mono"/>
              </a:rPr>
              <a:t>RISK AND CONFIDENCE NEVER MERGE</a:t>
            </a:r>
          </a:p>
        </p:txBody>
      </p:sp>
      <p:sp>
        <p:nvSpPr>
          <p:cNvPr id="20" name="Rectangle 19"/>
          <p:cNvSpPr/>
          <p:nvPr/>
        </p:nvSpPr>
        <p:spPr>
          <a:xfrm>
            <a:off x="4315968" y="4059936"/>
            <a:ext cx="3291840"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15968" y="4206240"/>
            <a:ext cx="3291840" cy="2011680"/>
          </a:xfrm>
          <a:prstGeom prst="rect">
            <a:avLst/>
          </a:prstGeom>
          <a:noFill/>
        </p:spPr>
        <p:txBody>
          <a:bodyPr wrap="square" lIns="0" rIns="0" tIns="0" bIns="0">
            <a:spAutoFit/>
          </a:bodyPr>
          <a:lstStyle/>
          <a:p>
            <a:pPr algn="l">
              <a:lnSpc>
                <a:spcPct val="140000"/>
              </a:lnSpc>
            </a:pPr>
            <a:r>
              <a:rPr sz="1200" b="0">
                <a:solidFill>
                  <a:srgbClr val="42555C"/>
                </a:solidFill>
                <a:latin typeface="IBM Plex Sans"/>
              </a:rPr>
              <a:t>Risk is how bad if this is real. Confidence is how sure we are it is real. Multiplying them hides the case that matters most: high risk, low confidence — a review queue, not an alarm.</a:t>
            </a:r>
          </a:p>
        </p:txBody>
      </p:sp>
      <p:sp>
        <p:nvSpPr>
          <p:cNvPr id="22" name="TextBox 21"/>
          <p:cNvSpPr txBox="1"/>
          <p:nvPr/>
        </p:nvSpPr>
        <p:spPr>
          <a:xfrm>
            <a:off x="7973568" y="3794760"/>
            <a:ext cx="3291840" cy="274320"/>
          </a:xfrm>
          <a:prstGeom prst="rect">
            <a:avLst/>
          </a:prstGeom>
          <a:noFill/>
        </p:spPr>
        <p:txBody>
          <a:bodyPr wrap="square" lIns="0" rIns="0" tIns="0" bIns="0">
            <a:spAutoFit/>
          </a:bodyPr>
          <a:lstStyle/>
          <a:p>
            <a:pPr algn="l">
              <a:lnSpc>
                <a:spcPct val="118000"/>
              </a:lnSpc>
            </a:pPr>
            <a:r>
              <a:rPr sz="950" b="1">
                <a:solidFill>
                  <a:srgbClr val="C8961A"/>
                </a:solidFill>
                <a:latin typeface="IBM Plex Mono"/>
              </a:rPr>
              <a:t>EVERY DETECTOR HAS A HARD NEGATIVE</a:t>
            </a:r>
          </a:p>
        </p:txBody>
      </p:sp>
      <p:sp>
        <p:nvSpPr>
          <p:cNvPr id="23" name="Rectangle 22"/>
          <p:cNvSpPr/>
          <p:nvPr/>
        </p:nvSpPr>
        <p:spPr>
          <a:xfrm>
            <a:off x="7973568" y="4059936"/>
            <a:ext cx="3291840"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73568" y="4206240"/>
            <a:ext cx="3291840" cy="2011680"/>
          </a:xfrm>
          <a:prstGeom prst="rect">
            <a:avLst/>
          </a:prstGeom>
          <a:noFill/>
        </p:spPr>
        <p:txBody>
          <a:bodyPr wrap="square" lIns="0" rIns="0" tIns="0" bIns="0">
            <a:spAutoFit/>
          </a:bodyPr>
          <a:lstStyle/>
          <a:p>
            <a:pPr algn="l">
              <a:lnSpc>
                <a:spcPct val="140000"/>
              </a:lnSpc>
            </a:pPr>
            <a:r>
              <a:rPr sz="1200" b="0">
                <a:solidFill>
                  <a:srgbClr val="42555C"/>
                </a:solidFill>
                <a:latin typeface="IBM Plex Sans"/>
              </a:rPr>
              <a:t>Gentle placement must not fire drop. Carrying at knee height must not fire drag. A detector that fires on everything passes every positive test and destroys the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58368" y="402336"/>
            <a:ext cx="8229600" cy="274320"/>
          </a:xfrm>
          <a:prstGeom prst="rect">
            <a:avLst/>
          </a:prstGeom>
          <a:noFill/>
        </p:spPr>
        <p:txBody>
          <a:bodyPr wrap="square" lIns="0" rIns="0" tIns="0" bIns="0">
            <a:spAutoFit/>
          </a:bodyPr>
          <a:lstStyle/>
          <a:p>
            <a:pPr algn="l">
              <a:lnSpc>
                <a:spcPct val="118000"/>
              </a:lnSpc>
            </a:pPr>
            <a:r>
              <a:rPr sz="1050" b="1">
                <a:solidFill>
                  <a:srgbClr val="C8961A"/>
                </a:solidFill>
                <a:latin typeface="IBM Plex Mono"/>
              </a:rPr>
              <a:t>BUILT   WHAT ACTUALLY RUNS</a:t>
            </a:r>
          </a:p>
        </p:txBody>
      </p:sp>
      <p:sp>
        <p:nvSpPr>
          <p:cNvPr id="3" name="TextBox 2"/>
          <p:cNvSpPr txBox="1"/>
          <p:nvPr/>
        </p:nvSpPr>
        <p:spPr>
          <a:xfrm>
            <a:off x="10253167" y="402336"/>
            <a:ext cx="1280160" cy="274320"/>
          </a:xfrm>
          <a:prstGeom prst="rect">
            <a:avLst/>
          </a:prstGeom>
          <a:noFill/>
        </p:spPr>
        <p:txBody>
          <a:bodyPr wrap="square" lIns="0" rIns="0" tIns="0" bIns="0">
            <a:spAutoFit/>
          </a:bodyPr>
          <a:lstStyle/>
          <a:p>
            <a:pPr algn="r">
              <a:lnSpc>
                <a:spcPct val="118000"/>
              </a:lnSpc>
            </a:pPr>
            <a:r>
              <a:rPr sz="1050" b="0">
                <a:solidFill>
                  <a:srgbClr val="728A93"/>
                </a:solidFill>
                <a:latin typeface="IBM Plex Mono"/>
              </a:rPr>
              <a:t>03 / 06</a:t>
            </a:r>
          </a:p>
        </p:txBody>
      </p:sp>
      <p:sp>
        <p:nvSpPr>
          <p:cNvPr id="4" name="Rectangle 3"/>
          <p:cNvSpPr/>
          <p:nvPr/>
        </p:nvSpPr>
        <p:spPr>
          <a:xfrm>
            <a:off x="658368" y="713232"/>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051560"/>
            <a:ext cx="8686800" cy="731520"/>
          </a:xfrm>
          <a:prstGeom prst="rect">
            <a:avLst/>
          </a:prstGeom>
          <a:noFill/>
        </p:spPr>
        <p:txBody>
          <a:bodyPr wrap="square" lIns="0" rIns="0" tIns="0" bIns="0">
            <a:spAutoFit/>
          </a:bodyPr>
          <a:lstStyle/>
          <a:p>
            <a:pPr algn="l">
              <a:lnSpc>
                <a:spcPct val="102000"/>
              </a:lnSpc>
            </a:pPr>
            <a:r>
              <a:rPr sz="3300" b="1">
                <a:solidFill>
                  <a:srgbClr val="12191C"/>
                </a:solidFill>
                <a:latin typeface="Archivo"/>
              </a:rPr>
              <a:t>Twelve behaviours, one offline command.</a:t>
            </a:r>
          </a:p>
        </p:txBody>
      </p:sp>
      <p:sp>
        <p:nvSpPr>
          <p:cNvPr id="6" name="TextBox 5"/>
          <p:cNvSpPr txBox="1"/>
          <p:nvPr/>
        </p:nvSpPr>
        <p:spPr>
          <a:xfrm>
            <a:off x="658368" y="1920240"/>
            <a:ext cx="3291840" cy="274320"/>
          </a:xfrm>
          <a:prstGeom prst="rect">
            <a:avLst/>
          </a:prstGeom>
          <a:noFill/>
        </p:spPr>
        <p:txBody>
          <a:bodyPr wrap="square" lIns="0" rIns="0" tIns="0" bIns="0">
            <a:spAutoFit/>
          </a:bodyPr>
          <a:lstStyle/>
          <a:p>
            <a:pPr algn="l">
              <a:lnSpc>
                <a:spcPct val="118000"/>
              </a:lnSpc>
            </a:pPr>
            <a:r>
              <a:rPr sz="950" b="1">
                <a:solidFill>
                  <a:srgbClr val="C8961A"/>
                </a:solidFill>
                <a:latin typeface="IBM Plex Mono"/>
              </a:rPr>
              <a:t>DETECTION WITHOUT TRAINING</a:t>
            </a:r>
          </a:p>
        </p:txBody>
      </p:sp>
      <p:sp>
        <p:nvSpPr>
          <p:cNvPr id="7" name="Rectangle 6"/>
          <p:cNvSpPr/>
          <p:nvPr/>
        </p:nvSpPr>
        <p:spPr>
          <a:xfrm>
            <a:off x="658368" y="2185416"/>
            <a:ext cx="3291840"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331720"/>
            <a:ext cx="3291840" cy="1463040"/>
          </a:xfrm>
          <a:prstGeom prst="rect">
            <a:avLst/>
          </a:prstGeom>
          <a:noFill/>
        </p:spPr>
        <p:txBody>
          <a:bodyPr wrap="square" lIns="0" rIns="0" tIns="0" bIns="0">
            <a:spAutoFit/>
          </a:bodyPr>
          <a:lstStyle/>
          <a:p>
            <a:pPr algn="l">
              <a:lnSpc>
                <a:spcPct val="140000"/>
              </a:lnSpc>
            </a:pPr>
            <a:r>
              <a:rPr sz="1200" b="0">
                <a:solidFill>
                  <a:srgbClr val="42555C"/>
                </a:solidFill>
                <a:latin typeface="IBM Plex Sans"/>
              </a:rPr>
              <a:t>YOLO-World open-vocabulary: warehouse classes come from text prompts in a config file, so the prompt strings are a tuning surface — as much a threshold as anything else.</a:t>
            </a:r>
          </a:p>
        </p:txBody>
      </p:sp>
      <p:sp>
        <p:nvSpPr>
          <p:cNvPr id="9" name="TextBox 8"/>
          <p:cNvSpPr txBox="1"/>
          <p:nvPr/>
        </p:nvSpPr>
        <p:spPr>
          <a:xfrm>
            <a:off x="4315968" y="1920240"/>
            <a:ext cx="3291840" cy="274320"/>
          </a:xfrm>
          <a:prstGeom prst="rect">
            <a:avLst/>
          </a:prstGeom>
          <a:noFill/>
        </p:spPr>
        <p:txBody>
          <a:bodyPr wrap="square" lIns="0" rIns="0" tIns="0" bIns="0">
            <a:spAutoFit/>
          </a:bodyPr>
          <a:lstStyle/>
          <a:p>
            <a:pPr algn="l">
              <a:lnSpc>
                <a:spcPct val="118000"/>
              </a:lnSpc>
            </a:pPr>
            <a:r>
              <a:rPr sz="950" b="1">
                <a:solidFill>
                  <a:srgbClr val="C8961A"/>
                </a:solidFill>
                <a:latin typeface="IBM Plex Mono"/>
              </a:rPr>
              <a:t>OFFLINE BY CONSTRUCTION</a:t>
            </a:r>
          </a:p>
        </p:txBody>
      </p:sp>
      <p:sp>
        <p:nvSpPr>
          <p:cNvPr id="10" name="Rectangle 9"/>
          <p:cNvSpPr/>
          <p:nvPr/>
        </p:nvSpPr>
        <p:spPr>
          <a:xfrm>
            <a:off x="4315968" y="2185416"/>
            <a:ext cx="3291840"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15968" y="2331720"/>
            <a:ext cx="3291840" cy="1463040"/>
          </a:xfrm>
          <a:prstGeom prst="rect">
            <a:avLst/>
          </a:prstGeom>
          <a:noFill/>
        </p:spPr>
        <p:txBody>
          <a:bodyPr wrap="square" lIns="0" rIns="0" tIns="0" bIns="0">
            <a:spAutoFit/>
          </a:bodyPr>
          <a:lstStyle/>
          <a:p>
            <a:pPr algn="l">
              <a:lnSpc>
                <a:spcPct val="140000"/>
              </a:lnSpc>
            </a:pPr>
            <a:r>
              <a:rPr sz="1200" b="0">
                <a:solidFill>
                  <a:srgbClr val="42555C"/>
                </a:solidFill>
                <a:latin typeface="IBM Plex Sans"/>
              </a:rPr>
              <a:t>Weights committed; CLIP ships as four 90 MiB chunks reassembled with a SHA256 check. Verified with socket.connect patched to raise — zero outbound connections.</a:t>
            </a:r>
          </a:p>
        </p:txBody>
      </p:sp>
      <p:sp>
        <p:nvSpPr>
          <p:cNvPr id="12" name="TextBox 11"/>
          <p:cNvSpPr txBox="1"/>
          <p:nvPr/>
        </p:nvSpPr>
        <p:spPr>
          <a:xfrm>
            <a:off x="7973568" y="1920240"/>
            <a:ext cx="3291840" cy="274320"/>
          </a:xfrm>
          <a:prstGeom prst="rect">
            <a:avLst/>
          </a:prstGeom>
          <a:noFill/>
        </p:spPr>
        <p:txBody>
          <a:bodyPr wrap="square" lIns="0" rIns="0" tIns="0" bIns="0">
            <a:spAutoFit/>
          </a:bodyPr>
          <a:lstStyle/>
          <a:p>
            <a:pPr algn="l">
              <a:lnSpc>
                <a:spcPct val="118000"/>
              </a:lnSpc>
            </a:pPr>
            <a:r>
              <a:rPr sz="950" b="1">
                <a:solidFill>
                  <a:srgbClr val="C8961A"/>
                </a:solidFill>
                <a:latin typeface="IBM Plex Mono"/>
              </a:rPr>
              <a:t>BEHAVIOUR, NOT IDENTITY</a:t>
            </a:r>
          </a:p>
        </p:txBody>
      </p:sp>
      <p:sp>
        <p:nvSpPr>
          <p:cNvPr id="13" name="Rectangle 12"/>
          <p:cNvSpPr/>
          <p:nvPr/>
        </p:nvSpPr>
        <p:spPr>
          <a:xfrm>
            <a:off x="7973568" y="2185416"/>
            <a:ext cx="3291840"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73568" y="2331720"/>
            <a:ext cx="3291840" cy="1463040"/>
          </a:xfrm>
          <a:prstGeom prst="rect">
            <a:avLst/>
          </a:prstGeom>
          <a:noFill/>
        </p:spPr>
        <p:txBody>
          <a:bodyPr wrap="square" lIns="0" rIns="0" tIns="0" bIns="0">
            <a:spAutoFit/>
          </a:bodyPr>
          <a:lstStyle/>
          <a:p>
            <a:pPr algn="l">
              <a:lnSpc>
                <a:spcPct val="140000"/>
              </a:lnSpc>
            </a:pPr>
            <a:r>
              <a:rPr sz="1200" b="0">
                <a:solidFill>
                  <a:srgbClr val="42555C"/>
                </a:solidFill>
                <a:latin typeface="IBM Plex Sans"/>
              </a:rPr>
              <a:t>Evidence clips blur the upper quarter of every person box. Deliberately not face detection — that would build the exact capability we say we don't have.</a:t>
            </a:r>
          </a:p>
        </p:txBody>
      </p:sp>
      <p:sp>
        <p:nvSpPr>
          <p:cNvPr id="15" name="TextBox 14"/>
          <p:cNvSpPr txBox="1"/>
          <p:nvPr/>
        </p:nvSpPr>
        <p:spPr>
          <a:xfrm>
            <a:off x="658368" y="3977639"/>
            <a:ext cx="10874959" cy="228600"/>
          </a:xfrm>
          <a:prstGeom prst="rect">
            <a:avLst/>
          </a:prstGeom>
          <a:noFill/>
        </p:spPr>
        <p:txBody>
          <a:bodyPr wrap="square" lIns="0" rIns="0" tIns="0" bIns="0">
            <a:spAutoFit/>
          </a:bodyPr>
          <a:lstStyle/>
          <a:p>
            <a:pPr algn="l">
              <a:lnSpc>
                <a:spcPct val="118000"/>
              </a:lnSpc>
            </a:pPr>
            <a:r>
              <a:rPr sz="950" b="0">
                <a:solidFill>
                  <a:srgbClr val="728A93"/>
                </a:solidFill>
                <a:latin typeface="IBM Plex Mono"/>
              </a:rPr>
              <a:t>BEHAVIOURS, TIERED BY THE EVIDENCE BEHIND THEM — NOT BY AMBITION</a:t>
            </a:r>
          </a:p>
        </p:txBody>
      </p:sp>
      <p:graphicFrame>
        <p:nvGraphicFramePr>
          <p:cNvPr id="16" name="Table 15"/>
          <p:cNvGraphicFramePr>
            <a:graphicFrameLocks noGrp="1"/>
          </p:cNvGraphicFramePr>
          <p:nvPr/>
        </p:nvGraphicFramePr>
        <p:xfrm>
          <a:off x="658368" y="4288535"/>
          <a:ext cx="10881360" cy="1207008"/>
        </p:xfrm>
        <a:graphic>
          <a:graphicData uri="http://schemas.openxmlformats.org/drawingml/2006/table">
            <a:tbl>
              <a:tblPr firstRow="1" bandRow="1">
                <a:tableStyleId>{5C22544A-7EE6-4342-B048-85BDC9FD1C3A}</a:tableStyleId>
              </a:tblPr>
              <a:tblGrid>
                <a:gridCol w="1737360"/>
                <a:gridCol w="5029200"/>
                <a:gridCol w="4114800"/>
              </a:tblGrid>
              <a:tr h="301752">
                <a:tc>
                  <a:txBody>
                    <a:bodyPr/>
                    <a:lstStyle/>
                    <a:p>
                      <a:r>
                        <a:rPr sz="950" b="1">
                          <a:solidFill>
                            <a:srgbClr val="728A93"/>
                          </a:solidFill>
                          <a:latin typeface="IBM Plex Mono"/>
                        </a:rPr>
                        <a:t>TIER</a:t>
                      </a:r>
                    </a:p>
                  </a:txBody>
                  <a:tcPr marL="82296" marR="82296" marT="27432" marB="27432">
                    <a:solidFill>
                      <a:srgbClr val="FBFCFC"/>
                    </a:solidFill>
                  </a:tcPr>
                </a:tc>
                <a:tc>
                  <a:txBody>
                    <a:bodyPr/>
                    <a:lstStyle/>
                    <a:p>
                      <a:r>
                        <a:rPr sz="950" b="1">
                          <a:solidFill>
                            <a:srgbClr val="728A93"/>
                          </a:solidFill>
                          <a:latin typeface="IBM Plex Sans"/>
                        </a:rPr>
                        <a:t>BEHAVIOURS</a:t>
                      </a:r>
                    </a:p>
                  </a:txBody>
                  <a:tcPr marL="82296" marR="82296" marT="27432" marB="27432">
                    <a:solidFill>
                      <a:srgbClr val="FBFCFC"/>
                    </a:solidFill>
                  </a:tcPr>
                </a:tc>
                <a:tc>
                  <a:txBody>
                    <a:bodyPr/>
                    <a:lstStyle/>
                    <a:p>
                      <a:r>
                        <a:rPr sz="950" b="1">
                          <a:solidFill>
                            <a:srgbClr val="728A93"/>
                          </a:solidFill>
                          <a:latin typeface="IBM Plex Sans"/>
                        </a:rPr>
                        <a:t>WHAT THE TIER MEANS</a:t>
                      </a:r>
                    </a:p>
                  </a:txBody>
                  <a:tcPr marL="82296" marR="82296" marT="27432" marB="27432">
                    <a:solidFill>
                      <a:srgbClr val="FBFCFC"/>
                    </a:solidFill>
                  </a:tcPr>
                </a:tc>
              </a:tr>
              <a:tr h="301752">
                <a:tc>
                  <a:txBody>
                    <a:bodyPr/>
                    <a:lstStyle/>
                    <a:p>
                      <a:r>
                        <a:rPr sz="1050" b="0">
                          <a:solidFill>
                            <a:srgbClr val="12191C"/>
                          </a:solidFill>
                          <a:latin typeface="IBM Plex Mono"/>
                        </a:rPr>
                        <a:t>Strong</a:t>
                      </a:r>
                    </a:p>
                  </a:txBody>
                  <a:tcPr marL="82296" marR="82296" marT="27432" marB="27432">
                    <a:solidFill>
                      <a:srgbClr val="FBFCFC"/>
                    </a:solidFill>
                  </a:tcPr>
                </a:tc>
                <a:tc>
                  <a:txBody>
                    <a:bodyPr/>
                    <a:lstStyle/>
                    <a:p>
                      <a:r>
                        <a:rPr sz="1050" b="0">
                          <a:solidFill>
                            <a:srgbClr val="12191C"/>
                          </a:solidFill>
                          <a:latin typeface="IBM Plex Sans"/>
                        </a:rPr>
                        <a:t>B01 drop · B05 improper stack · B06 unstable stack · B07 zone</a:t>
                      </a:r>
                    </a:p>
                  </a:txBody>
                  <a:tcPr marL="82296" marR="82296" marT="27432" marB="27432">
                    <a:solidFill>
                      <a:srgbClr val="FBFCFC"/>
                    </a:solidFill>
                  </a:tcPr>
                </a:tc>
                <a:tc>
                  <a:txBody>
                    <a:bodyPr/>
                    <a:lstStyle/>
                    <a:p>
                      <a:r>
                        <a:rPr sz="1050" b="0">
                          <a:solidFill>
                            <a:srgbClr val="12191C"/>
                          </a:solidFill>
                          <a:latin typeface="IBM Plex Sans"/>
                        </a:rPr>
                        <a:t>Held-out precision and recall 1.000 on synthetic reasoning tests</a:t>
                      </a:r>
                    </a:p>
                  </a:txBody>
                  <a:tcPr marL="82296" marR="82296" marT="27432" marB="27432">
                    <a:solidFill>
                      <a:srgbClr val="FBFCFC"/>
                    </a:solidFill>
                  </a:tcPr>
                </a:tc>
              </a:tr>
              <a:tr h="301752">
                <a:tc>
                  <a:txBody>
                    <a:bodyPr/>
                    <a:lstStyle/>
                    <a:p>
                      <a:r>
                        <a:rPr sz="1050" b="0">
                          <a:solidFill>
                            <a:srgbClr val="12191C"/>
                          </a:solidFill>
                          <a:latin typeface="IBM Plex Mono"/>
                        </a:rPr>
                        <a:t>Moderate</a:t>
                      </a:r>
                    </a:p>
                  </a:txBody>
                  <a:tcPr marL="82296" marR="82296" marT="27432" marB="27432">
                    <a:solidFill>
                      <a:srgbClr val="FBFCFC"/>
                    </a:solidFill>
                  </a:tcPr>
                </a:tc>
                <a:tc>
                  <a:txBody>
                    <a:bodyPr/>
                    <a:lstStyle/>
                    <a:p>
                      <a:r>
                        <a:rPr sz="1050" b="0">
                          <a:solidFill>
                            <a:srgbClr val="12191C"/>
                          </a:solidFill>
                          <a:latin typeface="IBM Plex Sans"/>
                        </a:rPr>
                        <a:t>B02 throw · B03 drag · B09 stepping · B12 unsafe surface</a:t>
                      </a:r>
                    </a:p>
                  </a:txBody>
                  <a:tcPr marL="82296" marR="82296" marT="27432" marB="27432">
                    <a:solidFill>
                      <a:srgbClr val="FBFCFC"/>
                    </a:solidFill>
                  </a:tcPr>
                </a:tc>
                <a:tc>
                  <a:txBody>
                    <a:bodyPr/>
                    <a:lstStyle/>
                    <a:p>
                      <a:r>
                        <a:rPr sz="1050" b="0">
                          <a:solidFill>
                            <a:srgbClr val="12191C"/>
                          </a:solidFill>
                          <a:latin typeface="IBM Plex Sans"/>
                        </a:rPr>
                        <a:t>Fires, with named failure modes we can describe</a:t>
                      </a:r>
                    </a:p>
                  </a:txBody>
                  <a:tcPr marL="82296" marR="82296" marT="27432" marB="27432">
                    <a:solidFill>
                      <a:srgbClr val="FBFCFC"/>
                    </a:solidFill>
                  </a:tcPr>
                </a:tc>
              </a:tr>
              <a:tr h="301752">
                <a:tc>
                  <a:txBody>
                    <a:bodyPr/>
                    <a:lstStyle/>
                    <a:p>
                      <a:r>
                        <a:rPr sz="1050" b="0">
                          <a:solidFill>
                            <a:srgbClr val="12191C"/>
                          </a:solidFill>
                          <a:latin typeface="IBM Plex Mono"/>
                        </a:rPr>
                        <a:t>Lightly validated</a:t>
                      </a:r>
                    </a:p>
                  </a:txBody>
                  <a:tcPr marL="82296" marR="82296" marT="27432" marB="27432">
                    <a:solidFill>
                      <a:srgbClr val="FBFCFC"/>
                    </a:solidFill>
                  </a:tcPr>
                </a:tc>
                <a:tc>
                  <a:txBody>
                    <a:bodyPr/>
                    <a:lstStyle/>
                    <a:p>
                      <a:r>
                        <a:rPr sz="1050" b="0">
                          <a:solidFill>
                            <a:srgbClr val="12191C"/>
                          </a:solidFill>
                          <a:latin typeface="IBM Plex Sans"/>
                        </a:rPr>
                        <a:t>B04 rough handling · B10 heavy handling · B11 unsafe sequence</a:t>
                      </a:r>
                    </a:p>
                  </a:txBody>
                  <a:tcPr marL="82296" marR="82296" marT="27432" marB="27432">
                    <a:solidFill>
                      <a:srgbClr val="FBFCFC"/>
                    </a:solidFill>
                  </a:tcPr>
                </a:tc>
                <a:tc>
                  <a:txBody>
                    <a:bodyPr/>
                    <a:lstStyle/>
                    <a:p>
                      <a:r>
                        <a:rPr sz="1050" b="0">
                          <a:solidFill>
                            <a:srgbClr val="12191C"/>
                          </a:solidFill>
                          <a:latin typeface="IBM Plex Sans"/>
                        </a:rPr>
                        <a:t>Proxy heuristics with confounds we can name, so we name them</a:t>
                      </a:r>
                    </a:p>
                  </a:txBody>
                  <a:tcPr marL="82296" marR="82296" marT="27432" marB="27432">
                    <a:solidFill>
                      <a:srgbClr val="FBFCFC"/>
                    </a:solidFill>
                  </a:tcPr>
                </a:tc>
              </a:tr>
            </a:tbl>
          </a:graphicData>
        </a:graphic>
      </p:graphicFrame>
      <p:sp>
        <p:nvSpPr>
          <p:cNvPr id="17" name="TextBox 16"/>
          <p:cNvSpPr txBox="1"/>
          <p:nvPr/>
        </p:nvSpPr>
        <p:spPr>
          <a:xfrm>
            <a:off x="658368" y="5943600"/>
            <a:ext cx="10424160" cy="548640"/>
          </a:xfrm>
          <a:prstGeom prst="rect">
            <a:avLst/>
          </a:prstGeom>
          <a:noFill/>
        </p:spPr>
        <p:txBody>
          <a:bodyPr wrap="square" lIns="0" rIns="0" tIns="0" bIns="0">
            <a:spAutoFit/>
          </a:bodyPr>
          <a:lstStyle/>
          <a:p>
            <a:pPr algn="l">
              <a:lnSpc>
                <a:spcPct val="135000"/>
              </a:lnSpc>
            </a:pPr>
            <a:r>
              <a:rPr sz="1200" b="0">
                <a:solidFill>
                  <a:srgbClr val="42555C"/>
                </a:solidFill>
                <a:latin typeface="IBM Plex Sans"/>
              </a:rPr>
              <a:t>B10 is called “large item handled without equipment present”, not “unsafe lift”. It cannot see mass, and mass is the whole concept, so the name says what was observed rather than what was inferred.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58368" y="402336"/>
            <a:ext cx="8229600" cy="274320"/>
          </a:xfrm>
          <a:prstGeom prst="rect">
            <a:avLst/>
          </a:prstGeom>
          <a:noFill/>
        </p:spPr>
        <p:txBody>
          <a:bodyPr wrap="square" lIns="0" rIns="0" tIns="0" bIns="0">
            <a:spAutoFit/>
          </a:bodyPr>
          <a:lstStyle/>
          <a:p>
            <a:pPr algn="l">
              <a:lnSpc>
                <a:spcPct val="118000"/>
              </a:lnSpc>
            </a:pPr>
            <a:r>
              <a:rPr sz="1050" b="1">
                <a:solidFill>
                  <a:srgbClr val="C8961A"/>
                </a:solidFill>
                <a:latin typeface="IBM Plex Mono"/>
              </a:rPr>
              <a:t>EVIDENCE   ABLATION, HELD-OUT SPLIT</a:t>
            </a:r>
          </a:p>
        </p:txBody>
      </p:sp>
      <p:sp>
        <p:nvSpPr>
          <p:cNvPr id="3" name="TextBox 2"/>
          <p:cNvSpPr txBox="1"/>
          <p:nvPr/>
        </p:nvSpPr>
        <p:spPr>
          <a:xfrm>
            <a:off x="10253167" y="402336"/>
            <a:ext cx="1280160" cy="274320"/>
          </a:xfrm>
          <a:prstGeom prst="rect">
            <a:avLst/>
          </a:prstGeom>
          <a:noFill/>
        </p:spPr>
        <p:txBody>
          <a:bodyPr wrap="square" lIns="0" rIns="0" tIns="0" bIns="0">
            <a:spAutoFit/>
          </a:bodyPr>
          <a:lstStyle/>
          <a:p>
            <a:pPr algn="r">
              <a:lnSpc>
                <a:spcPct val="118000"/>
              </a:lnSpc>
            </a:pPr>
            <a:r>
              <a:rPr sz="1050" b="0">
                <a:solidFill>
                  <a:srgbClr val="728A93"/>
                </a:solidFill>
                <a:latin typeface="IBM Plex Mono"/>
              </a:rPr>
              <a:t>04 / 06</a:t>
            </a:r>
          </a:p>
        </p:txBody>
      </p:sp>
      <p:sp>
        <p:nvSpPr>
          <p:cNvPr id="4" name="Rectangle 3"/>
          <p:cNvSpPr/>
          <p:nvPr/>
        </p:nvSpPr>
        <p:spPr>
          <a:xfrm>
            <a:off x="658368" y="713232"/>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051560"/>
            <a:ext cx="8686800" cy="731520"/>
          </a:xfrm>
          <a:prstGeom prst="rect">
            <a:avLst/>
          </a:prstGeom>
          <a:noFill/>
        </p:spPr>
        <p:txBody>
          <a:bodyPr wrap="square" lIns="0" rIns="0" tIns="0" bIns="0">
            <a:spAutoFit/>
          </a:bodyPr>
          <a:lstStyle/>
          <a:p>
            <a:pPr algn="l">
              <a:lnSpc>
                <a:spcPct val="102000"/>
              </a:lnSpc>
            </a:pPr>
            <a:r>
              <a:rPr sz="3300" b="1">
                <a:solidFill>
                  <a:srgbClr val="12191C"/>
                </a:solidFill>
                <a:latin typeface="Archivo"/>
              </a:rPr>
              <a:t>Remove tracking and the system goes completely silent.</a:t>
            </a:r>
          </a:p>
        </p:txBody>
      </p:sp>
      <p:sp>
        <p:nvSpPr>
          <p:cNvPr id="6" name="TextBox 5"/>
          <p:cNvSpPr txBox="1"/>
          <p:nvPr/>
        </p:nvSpPr>
        <p:spPr>
          <a:xfrm>
            <a:off x="658368" y="1920240"/>
            <a:ext cx="10424160" cy="640080"/>
          </a:xfrm>
          <a:prstGeom prst="rect">
            <a:avLst/>
          </a:prstGeom>
          <a:noFill/>
        </p:spPr>
        <p:txBody>
          <a:bodyPr wrap="square" lIns="0" rIns="0" tIns="0" bIns="0">
            <a:spAutoFit/>
          </a:bodyPr>
          <a:lstStyle/>
          <a:p>
            <a:pPr algn="l">
              <a:lnSpc>
                <a:spcPct val="140000"/>
              </a:lnSpc>
            </a:pPr>
            <a:r>
              <a:rPr sz="1300" b="0">
                <a:solidFill>
                  <a:srgbClr val="42555C"/>
                </a:solidFill>
                <a:latin typeface="IBM Plex Sans"/>
              </a:rPr>
              <a:t>Measured on physics-rendered clips with the renderer's exact box geometry injected as perception, so this isolates the reasoning layer. Two splits: a tune set of 9 clips development happened against, and a heldout set of 27 drawn separately — different release heights, launch speeds, stack offsets, and carton sizes from 60 to 100 px.</a:t>
            </a:r>
          </a:p>
        </p:txBody>
      </p:sp>
      <p:sp>
        <p:nvSpPr>
          <p:cNvPr id="7" name="TextBox 6"/>
          <p:cNvSpPr txBox="1"/>
          <p:nvPr/>
        </p:nvSpPr>
        <p:spPr>
          <a:xfrm>
            <a:off x="658368" y="2880360"/>
            <a:ext cx="10874959" cy="228600"/>
          </a:xfrm>
          <a:prstGeom prst="rect">
            <a:avLst/>
          </a:prstGeom>
          <a:noFill/>
        </p:spPr>
        <p:txBody>
          <a:bodyPr wrap="square" lIns="0" rIns="0" tIns="0" bIns="0">
            <a:spAutoFit/>
          </a:bodyPr>
          <a:lstStyle/>
          <a:p>
            <a:pPr algn="l">
              <a:lnSpc>
                <a:spcPct val="118000"/>
              </a:lnSpc>
            </a:pPr>
            <a:r>
              <a:rPr sz="950" b="0">
                <a:solidFill>
                  <a:srgbClr val="728A93"/>
                </a:solidFill>
                <a:latin typeface="IBM Plex Mono"/>
              </a:rPr>
              <a:t>REASONING-LAYER F1 — MECHANISMS SWITCHED OFF ONE AT A TIME</a:t>
            </a:r>
          </a:p>
        </p:txBody>
      </p:sp>
      <p:graphicFrame>
        <p:nvGraphicFramePr>
          <p:cNvPr id="8" name="Table 7"/>
          <p:cNvGraphicFramePr>
            <a:graphicFrameLocks noGrp="1"/>
          </p:cNvGraphicFramePr>
          <p:nvPr/>
        </p:nvGraphicFramePr>
        <p:xfrm>
          <a:off x="658368" y="3191256"/>
          <a:ext cx="10881360" cy="1508760"/>
        </p:xfrm>
        <a:graphic>
          <a:graphicData uri="http://schemas.openxmlformats.org/drawingml/2006/table">
            <a:tbl>
              <a:tblPr firstRow="1" bandRow="1">
                <a:tableStyleId>{5C22544A-7EE6-4342-B048-85BDC9FD1C3A}</a:tableStyleId>
              </a:tblPr>
              <a:tblGrid>
                <a:gridCol w="2011680"/>
                <a:gridCol w="1371600"/>
                <a:gridCol w="1645920"/>
                <a:gridCol w="5852160"/>
              </a:tblGrid>
              <a:tr h="301752">
                <a:tc>
                  <a:txBody>
                    <a:bodyPr/>
                    <a:lstStyle/>
                    <a:p>
                      <a:r>
                        <a:rPr sz="950" b="1">
                          <a:solidFill>
                            <a:srgbClr val="728A93"/>
                          </a:solidFill>
                          <a:latin typeface="IBM Plex Mono"/>
                        </a:rPr>
                        <a:t>VARIANT</a:t>
                      </a:r>
                    </a:p>
                  </a:txBody>
                  <a:tcPr marL="82296" marR="82296" marT="27432" marB="27432">
                    <a:solidFill>
                      <a:srgbClr val="FBFCFC"/>
                    </a:solidFill>
                  </a:tcPr>
                </a:tc>
                <a:tc>
                  <a:txBody>
                    <a:bodyPr/>
                    <a:lstStyle/>
                    <a:p>
                      <a:r>
                        <a:rPr sz="950" b="1">
                          <a:solidFill>
                            <a:srgbClr val="728A93"/>
                          </a:solidFill>
                          <a:latin typeface="IBM Plex Sans"/>
                        </a:rPr>
                        <a:t>TUNE (N=9)</a:t>
                      </a:r>
                    </a:p>
                  </a:txBody>
                  <a:tcPr marL="82296" marR="82296" marT="27432" marB="27432">
                    <a:solidFill>
                      <a:srgbClr val="FBFCFC"/>
                    </a:solidFill>
                  </a:tcPr>
                </a:tc>
                <a:tc>
                  <a:txBody>
                    <a:bodyPr/>
                    <a:lstStyle/>
                    <a:p>
                      <a:r>
                        <a:rPr sz="950" b="1">
                          <a:solidFill>
                            <a:srgbClr val="728A93"/>
                          </a:solidFill>
                          <a:latin typeface="IBM Plex Sans"/>
                        </a:rPr>
                        <a:t>HELDOUT (N=27)</a:t>
                      </a:r>
                    </a:p>
                  </a:txBody>
                  <a:tcPr marL="82296" marR="82296" marT="27432" marB="27432">
                    <a:solidFill>
                      <a:srgbClr val="FBFCFC"/>
                    </a:solidFill>
                  </a:tcPr>
                </a:tc>
                <a:tc>
                  <a:txBody>
                    <a:bodyPr/>
                    <a:lstStyle/>
                    <a:p>
                      <a:r>
                        <a:rPr sz="950" b="1">
                          <a:solidFill>
                            <a:srgbClr val="728A93"/>
                          </a:solidFill>
                          <a:latin typeface="IBM Plex Sans"/>
                        </a:rPr>
                        <a:t>READING</a:t>
                      </a:r>
                    </a:p>
                  </a:txBody>
                  <a:tcPr marL="82296" marR="82296" marT="27432" marB="27432">
                    <a:solidFill>
                      <a:srgbClr val="FBFCFC"/>
                    </a:solidFill>
                  </a:tcPr>
                </a:tc>
              </a:tr>
              <a:tr h="301752">
                <a:tc>
                  <a:txBody>
                    <a:bodyPr/>
                    <a:lstStyle/>
                    <a:p>
                      <a:r>
                        <a:rPr sz="1050" b="0">
                          <a:solidFill>
                            <a:srgbClr val="12191C"/>
                          </a:solidFill>
                          <a:latin typeface="IBM Plex Mono"/>
                        </a:rPr>
                        <a:t>baseline</a:t>
                      </a:r>
                    </a:p>
                  </a:txBody>
                  <a:tcPr marL="82296" marR="82296" marT="27432" marB="27432">
                    <a:solidFill>
                      <a:srgbClr val="FBFCFC"/>
                    </a:solidFill>
                  </a:tcPr>
                </a:tc>
                <a:tc>
                  <a:txBody>
                    <a:bodyPr/>
                    <a:lstStyle/>
                    <a:p>
                      <a:pPr algn="r"/>
                      <a:r>
                        <a:rPr sz="1050" b="0">
                          <a:solidFill>
                            <a:srgbClr val="12191C"/>
                          </a:solidFill>
                          <a:latin typeface="IBM Plex Mono"/>
                        </a:rPr>
                        <a:t>1.000</a:t>
                      </a:r>
                    </a:p>
                  </a:txBody>
                  <a:tcPr marL="82296" marR="82296" marT="27432" marB="27432">
                    <a:solidFill>
                      <a:srgbClr val="FBFCFC"/>
                    </a:solidFill>
                  </a:tcPr>
                </a:tc>
                <a:tc>
                  <a:txBody>
                    <a:bodyPr/>
                    <a:lstStyle/>
                    <a:p>
                      <a:pPr algn="r"/>
                      <a:r>
                        <a:rPr sz="1050" b="0">
                          <a:solidFill>
                            <a:srgbClr val="12191C"/>
                          </a:solidFill>
                          <a:latin typeface="IBM Plex Mono"/>
                        </a:rPr>
                        <a:t>0.933</a:t>
                      </a:r>
                    </a:p>
                  </a:txBody>
                  <a:tcPr marL="82296" marR="82296" marT="27432" marB="27432">
                    <a:solidFill>
                      <a:srgbClr val="FBFCFC"/>
                    </a:solidFill>
                  </a:tcPr>
                </a:tc>
                <a:tc>
                  <a:txBody>
                    <a:bodyPr/>
                    <a:lstStyle/>
                    <a:p>
                      <a:r>
                        <a:rPr sz="1050" b="0">
                          <a:solidFill>
                            <a:srgbClr val="12191C"/>
                          </a:solidFill>
                          <a:latin typeface="IBM Plex Sans"/>
                        </a:rPr>
                        <a:t>The gap between columns is the size of the overfit</a:t>
                      </a:r>
                    </a:p>
                  </a:txBody>
                  <a:tcPr marL="82296" marR="82296" marT="27432" marB="27432">
                    <a:solidFill>
                      <a:srgbClr val="FBFCFC"/>
                    </a:solidFill>
                  </a:tcPr>
                </a:tc>
              </a:tr>
              <a:tr h="301752">
                <a:tc>
                  <a:txBody>
                    <a:bodyPr/>
                    <a:lstStyle/>
                    <a:p>
                      <a:r>
                        <a:rPr sz="1050" b="1">
                          <a:solidFill>
                            <a:srgbClr val="12191C"/>
                          </a:solidFill>
                          <a:latin typeface="IBM Plex Mono"/>
                        </a:rPr>
                        <a:t>no_tracking</a:t>
                      </a:r>
                    </a:p>
                  </a:txBody>
                  <a:tcPr marL="82296" marR="82296" marT="27432" marB="27432">
                    <a:solidFill>
                      <a:srgbClr val="FBFCFC"/>
                    </a:solidFill>
                  </a:tcPr>
                </a:tc>
                <a:tc>
                  <a:txBody>
                    <a:bodyPr/>
                    <a:lstStyle/>
                    <a:p>
                      <a:pPr algn="r"/>
                      <a:r>
                        <a:rPr sz="1050" b="1">
                          <a:solidFill>
                            <a:srgbClr val="B23A2F"/>
                          </a:solidFill>
                          <a:latin typeface="IBM Plex Mono"/>
                        </a:rPr>
                        <a:t>0.000</a:t>
                      </a:r>
                    </a:p>
                  </a:txBody>
                  <a:tcPr marL="82296" marR="82296" marT="27432" marB="27432">
                    <a:solidFill>
                      <a:srgbClr val="FBFCFC"/>
                    </a:solidFill>
                  </a:tcPr>
                </a:tc>
                <a:tc>
                  <a:txBody>
                    <a:bodyPr/>
                    <a:lstStyle/>
                    <a:p>
                      <a:pPr algn="r"/>
                      <a:r>
                        <a:rPr sz="1050" b="1">
                          <a:solidFill>
                            <a:srgbClr val="B23A2F"/>
                          </a:solidFill>
                          <a:latin typeface="IBM Plex Mono"/>
                        </a:rPr>
                        <a:t>0.000</a:t>
                      </a:r>
                    </a:p>
                  </a:txBody>
                  <a:tcPr marL="82296" marR="82296" marT="27432" marB="27432">
                    <a:solidFill>
                      <a:srgbClr val="FBFCFC"/>
                    </a:solidFill>
                  </a:tcPr>
                </a:tc>
                <a:tc>
                  <a:txBody>
                    <a:bodyPr/>
                    <a:lstStyle/>
                    <a:p>
                      <a:r>
                        <a:rPr sz="1050" b="0">
                          <a:solidFill>
                            <a:srgbClr val="12191C"/>
                          </a:solidFill>
                          <a:latin typeface="IBM Plex Sans"/>
                        </a:rPr>
                        <a:t>Nothing fires at all. Every behaviour is defined over a sequence.</a:t>
                      </a:r>
                    </a:p>
                  </a:txBody>
                  <a:tcPr marL="82296" marR="82296" marT="27432" marB="27432">
                    <a:solidFill>
                      <a:srgbClr val="FBFCFC"/>
                    </a:solidFill>
                  </a:tcPr>
                </a:tc>
              </a:tr>
              <a:tr h="301752">
                <a:tc>
                  <a:txBody>
                    <a:bodyPr/>
                    <a:lstStyle/>
                    <a:p>
                      <a:r>
                        <a:rPr sz="1050" b="0">
                          <a:solidFill>
                            <a:srgbClr val="12191C"/>
                          </a:solidFill>
                          <a:latin typeface="IBM Plex Mono"/>
                        </a:rPr>
                        <a:t>no_smoothing</a:t>
                      </a:r>
                    </a:p>
                  </a:txBody>
                  <a:tcPr marL="82296" marR="82296" marT="27432" marB="27432">
                    <a:solidFill>
                      <a:srgbClr val="FBFCFC"/>
                    </a:solidFill>
                  </a:tcPr>
                </a:tc>
                <a:tc>
                  <a:txBody>
                    <a:bodyPr/>
                    <a:lstStyle/>
                    <a:p>
                      <a:pPr algn="r"/>
                      <a:r>
                        <a:rPr sz="1050" b="0">
                          <a:solidFill>
                            <a:srgbClr val="12191C"/>
                          </a:solidFill>
                          <a:latin typeface="IBM Plex Mono"/>
                        </a:rPr>
                        <a:t>1.000</a:t>
                      </a:r>
                    </a:p>
                  </a:txBody>
                  <a:tcPr marL="82296" marR="82296" marT="27432" marB="27432">
                    <a:solidFill>
                      <a:srgbClr val="FBFCFC"/>
                    </a:solidFill>
                  </a:tcPr>
                </a:tc>
                <a:tc>
                  <a:txBody>
                    <a:bodyPr/>
                    <a:lstStyle/>
                    <a:p>
                      <a:pPr algn="r"/>
                      <a:r>
                        <a:rPr sz="1050" b="0">
                          <a:solidFill>
                            <a:srgbClr val="12191C"/>
                          </a:solidFill>
                          <a:latin typeface="IBM Plex Mono"/>
                        </a:rPr>
                        <a:t>0.867</a:t>
                      </a:r>
                    </a:p>
                  </a:txBody>
                  <a:tcPr marL="82296" marR="82296" marT="27432" marB="27432">
                    <a:solidFill>
                      <a:srgbClr val="FBFCFC"/>
                    </a:solidFill>
                  </a:tcPr>
                </a:tc>
                <a:tc>
                  <a:txBody>
                    <a:bodyPr/>
                    <a:lstStyle/>
                    <a:p>
                      <a:r>
                        <a:rPr sz="1050" b="0">
                          <a:solidFill>
                            <a:srgbClr val="12191C"/>
                          </a:solidFill>
                          <a:latin typeface="IBM Plex Sans"/>
                        </a:rPr>
                        <a:t>Costs nothing on fixed clips; costs 0.066 once sizes and speeds vary</a:t>
                      </a:r>
                    </a:p>
                  </a:txBody>
                  <a:tcPr marL="82296" marR="82296" marT="27432" marB="27432">
                    <a:solidFill>
                      <a:srgbClr val="FBFCFC"/>
                    </a:solidFill>
                  </a:tcPr>
                </a:tc>
              </a:tr>
              <a:tr h="301752">
                <a:tc>
                  <a:txBody>
                    <a:bodyPr/>
                    <a:lstStyle/>
                    <a:p>
                      <a:r>
                        <a:rPr sz="1050" b="0">
                          <a:solidFill>
                            <a:srgbClr val="12191C"/>
                          </a:solidFill>
                          <a:latin typeface="IBM Plex Mono"/>
                        </a:rPr>
                        <a:t>no_event_graph</a:t>
                      </a:r>
                    </a:p>
                  </a:txBody>
                  <a:tcPr marL="82296" marR="82296" marT="27432" marB="27432">
                    <a:solidFill>
                      <a:srgbClr val="FBFCFC"/>
                    </a:solidFill>
                  </a:tcPr>
                </a:tc>
                <a:tc>
                  <a:txBody>
                    <a:bodyPr/>
                    <a:lstStyle/>
                    <a:p>
                      <a:pPr algn="r"/>
                      <a:r>
                        <a:rPr sz="1050" b="0">
                          <a:solidFill>
                            <a:srgbClr val="12191C"/>
                          </a:solidFill>
                          <a:latin typeface="IBM Plex Mono"/>
                        </a:rPr>
                        <a:t>0.933</a:t>
                      </a:r>
                    </a:p>
                  </a:txBody>
                  <a:tcPr marL="82296" marR="82296" marT="27432" marB="27432">
                    <a:solidFill>
                      <a:srgbClr val="FBFCFC"/>
                    </a:solidFill>
                  </a:tcPr>
                </a:tc>
                <a:tc>
                  <a:txBody>
                    <a:bodyPr/>
                    <a:lstStyle/>
                    <a:p>
                      <a:pPr algn="r"/>
                      <a:r>
                        <a:rPr sz="1050" b="0">
                          <a:solidFill>
                            <a:srgbClr val="12191C"/>
                          </a:solidFill>
                          <a:latin typeface="IBM Plex Mono"/>
                        </a:rPr>
                        <a:t>0.933</a:t>
                      </a:r>
                    </a:p>
                  </a:txBody>
                  <a:tcPr marL="82296" marR="82296" marT="27432" marB="27432">
                    <a:solidFill>
                      <a:srgbClr val="FBFCFC"/>
                    </a:solidFill>
                  </a:tcPr>
                </a:tc>
                <a:tc>
                  <a:txBody>
                    <a:bodyPr/>
                    <a:lstStyle/>
                    <a:p>
                      <a:r>
                        <a:rPr sz="1050" b="0">
                          <a:solidFill>
                            <a:srgbClr val="12191C"/>
                          </a:solidFill>
                          <a:latin typeface="IBM Plex Sans"/>
                        </a:rPr>
                        <a:t>No delta — it feeds the risk score, not event detection. Reported anyway.</a:t>
                      </a:r>
                    </a:p>
                  </a:txBody>
                  <a:tcPr marL="82296" marR="82296" marT="27432" marB="27432">
                    <a:solidFill>
                      <a:srgbClr val="FBFCFC"/>
                    </a:solidFill>
                  </a:tcPr>
                </a:tc>
              </a:tr>
            </a:tbl>
          </a:graphicData>
        </a:graphic>
      </p:graphicFrame>
      <p:sp>
        <p:nvSpPr>
          <p:cNvPr id="9" name="TextBox 8"/>
          <p:cNvSpPr txBox="1"/>
          <p:nvPr/>
        </p:nvSpPr>
        <p:spPr>
          <a:xfrm>
            <a:off x="658368" y="5074920"/>
            <a:ext cx="5120640" cy="274320"/>
          </a:xfrm>
          <a:prstGeom prst="rect">
            <a:avLst/>
          </a:prstGeom>
          <a:noFill/>
        </p:spPr>
        <p:txBody>
          <a:bodyPr wrap="square" lIns="0" rIns="0" tIns="0" bIns="0">
            <a:spAutoFit/>
          </a:bodyPr>
          <a:lstStyle/>
          <a:p>
            <a:pPr algn="l">
              <a:lnSpc>
                <a:spcPct val="118000"/>
              </a:lnSpc>
            </a:pPr>
            <a:r>
              <a:rPr sz="950" b="1">
                <a:solidFill>
                  <a:srgbClr val="C8961A"/>
                </a:solidFill>
                <a:latin typeface="IBM Plex Mono"/>
              </a:rPr>
              <a:t>WHY THE TUNE COLUMN READS 1.000</a:t>
            </a:r>
          </a:p>
        </p:txBody>
      </p:sp>
      <p:sp>
        <p:nvSpPr>
          <p:cNvPr id="10" name="Rectangle 9"/>
          <p:cNvSpPr/>
          <p:nvPr/>
        </p:nvSpPr>
        <p:spPr>
          <a:xfrm>
            <a:off x="658368" y="5340096"/>
            <a:ext cx="5120640"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486400"/>
            <a:ext cx="5120640" cy="1097280"/>
          </a:xfrm>
          <a:prstGeom prst="rect">
            <a:avLst/>
          </a:prstGeom>
          <a:noFill/>
        </p:spPr>
        <p:txBody>
          <a:bodyPr wrap="square" lIns="0" rIns="0" tIns="0" bIns="0">
            <a:spAutoFit/>
          </a:bodyPr>
          <a:lstStyle/>
          <a:p>
            <a:pPr algn="l">
              <a:lnSpc>
                <a:spcPct val="140000"/>
              </a:lnSpc>
            </a:pPr>
            <a:r>
              <a:rPr sz="1200" b="0">
                <a:solidFill>
                  <a:srgbClr val="42555C"/>
                </a:solidFill>
                <a:latin typeface="IBM Plex Sans"/>
              </a:rPr>
              <a:t>Because thresholds were changed in response to failures on those nine clips. A perfect score on your own tuning set is a warning, not a result — so the held-out split exists, and 0.933 is the number we quote.</a:t>
            </a:r>
          </a:p>
        </p:txBody>
      </p:sp>
      <p:sp>
        <p:nvSpPr>
          <p:cNvPr id="12" name="TextBox 11"/>
          <p:cNvSpPr txBox="1"/>
          <p:nvPr/>
        </p:nvSpPr>
        <p:spPr>
          <a:xfrm>
            <a:off x="6190488" y="5074920"/>
            <a:ext cx="5120640" cy="274320"/>
          </a:xfrm>
          <a:prstGeom prst="rect">
            <a:avLst/>
          </a:prstGeom>
          <a:noFill/>
        </p:spPr>
        <p:txBody>
          <a:bodyPr wrap="square" lIns="0" rIns="0" tIns="0" bIns="0">
            <a:spAutoFit/>
          </a:bodyPr>
          <a:lstStyle/>
          <a:p>
            <a:pPr algn="l">
              <a:lnSpc>
                <a:spcPct val="118000"/>
              </a:lnSpc>
            </a:pPr>
            <a:r>
              <a:rPr sz="950" b="1">
                <a:solidFill>
                  <a:srgbClr val="C8961A"/>
                </a:solidFill>
                <a:latin typeface="IBM Plex Mono"/>
              </a:rPr>
              <a:t>WHAT A HELD-OUT SPLIT DOESN'T FIX</a:t>
            </a:r>
          </a:p>
        </p:txBody>
      </p:sp>
      <p:sp>
        <p:nvSpPr>
          <p:cNvPr id="13" name="Rectangle 12"/>
          <p:cNvSpPr/>
          <p:nvPr/>
        </p:nvSpPr>
        <p:spPr>
          <a:xfrm>
            <a:off x="6190488" y="5340096"/>
            <a:ext cx="5120640"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0488" y="5486400"/>
            <a:ext cx="5120640" cy="1097280"/>
          </a:xfrm>
          <a:prstGeom prst="rect">
            <a:avLst/>
          </a:prstGeom>
          <a:noFill/>
        </p:spPr>
        <p:txBody>
          <a:bodyPr wrap="square" lIns="0" rIns="0" tIns="0" bIns="0">
            <a:spAutoFit/>
          </a:bodyPr>
          <a:lstStyle/>
          <a:p>
            <a:pPr algn="l">
              <a:lnSpc>
                <a:spcPct val="140000"/>
              </a:lnSpc>
            </a:pPr>
            <a:r>
              <a:rPr sz="1200" b="0">
                <a:solidFill>
                  <a:srgbClr val="42555C"/>
                </a:solidFill>
                <a:latin typeface="IBM Plex Sans"/>
              </a:rPr>
              <a:t>Both splits come from the same renderer. A systematic error in how it models handling appears identically in both. Only real footage closes that gap — which is the next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58368" y="402336"/>
            <a:ext cx="8229600" cy="274320"/>
          </a:xfrm>
          <a:prstGeom prst="rect">
            <a:avLst/>
          </a:prstGeom>
          <a:noFill/>
        </p:spPr>
        <p:txBody>
          <a:bodyPr wrap="square" lIns="0" rIns="0" tIns="0" bIns="0">
            <a:spAutoFit/>
          </a:bodyPr>
          <a:lstStyle/>
          <a:p>
            <a:pPr algn="l">
              <a:lnSpc>
                <a:spcPct val="118000"/>
              </a:lnSpc>
            </a:pPr>
            <a:r>
              <a:rPr sz="1050" b="1">
                <a:solidFill>
                  <a:srgbClr val="C8961A"/>
                </a:solidFill>
                <a:latin typeface="IBM Plex Mono"/>
              </a:rPr>
              <a:t>REALITY CHECK   SESSION 1 — REAL LOADING BAY</a:t>
            </a:r>
          </a:p>
        </p:txBody>
      </p:sp>
      <p:sp>
        <p:nvSpPr>
          <p:cNvPr id="3" name="TextBox 2"/>
          <p:cNvSpPr txBox="1"/>
          <p:nvPr/>
        </p:nvSpPr>
        <p:spPr>
          <a:xfrm>
            <a:off x="10253167" y="402336"/>
            <a:ext cx="1280160" cy="274320"/>
          </a:xfrm>
          <a:prstGeom prst="rect">
            <a:avLst/>
          </a:prstGeom>
          <a:noFill/>
        </p:spPr>
        <p:txBody>
          <a:bodyPr wrap="square" lIns="0" rIns="0" tIns="0" bIns="0">
            <a:spAutoFit/>
          </a:bodyPr>
          <a:lstStyle/>
          <a:p>
            <a:pPr algn="r">
              <a:lnSpc>
                <a:spcPct val="118000"/>
              </a:lnSpc>
            </a:pPr>
            <a:r>
              <a:rPr sz="1050" b="0">
                <a:solidFill>
                  <a:srgbClr val="728A93"/>
                </a:solidFill>
                <a:latin typeface="IBM Plex Mono"/>
              </a:rPr>
              <a:t>05 / 06</a:t>
            </a:r>
          </a:p>
        </p:txBody>
      </p:sp>
      <p:sp>
        <p:nvSpPr>
          <p:cNvPr id="4" name="Rectangle 3"/>
          <p:cNvSpPr/>
          <p:nvPr/>
        </p:nvSpPr>
        <p:spPr>
          <a:xfrm>
            <a:off x="658368" y="713232"/>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960120"/>
            <a:ext cx="10972800" cy="731520"/>
          </a:xfrm>
          <a:prstGeom prst="rect">
            <a:avLst/>
          </a:prstGeom>
          <a:noFill/>
        </p:spPr>
        <p:txBody>
          <a:bodyPr wrap="square" lIns="0" rIns="0" tIns="0" bIns="0">
            <a:spAutoFit/>
          </a:bodyPr>
          <a:lstStyle/>
          <a:p>
            <a:pPr algn="l">
              <a:lnSpc>
                <a:spcPct val="102000"/>
              </a:lnSpc>
            </a:pPr>
            <a:r>
              <a:rPr sz="2900" b="1">
                <a:solidFill>
                  <a:srgbClr val="12191C"/>
                </a:solidFill>
                <a:latin typeface="Archivo"/>
              </a:rPr>
              <a:t>Then we pointed it at a real dock, and it did badly.</a:t>
            </a:r>
          </a:p>
        </p:txBody>
      </p:sp>
      <p:sp>
        <p:nvSpPr>
          <p:cNvPr id="6" name="Rectangle 5"/>
          <p:cNvSpPr/>
          <p:nvPr/>
        </p:nvSpPr>
        <p:spPr>
          <a:xfrm>
            <a:off x="658368" y="1828800"/>
            <a:ext cx="10874959" cy="32004"/>
          </a:xfrm>
          <a:prstGeom prst="rect">
            <a:avLst/>
          </a:prstGeom>
          <a:solidFill>
            <a:srgbClr val="B23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38528"/>
            <a:ext cx="2377440" cy="914400"/>
          </a:xfrm>
          <a:prstGeom prst="rect">
            <a:avLst/>
          </a:prstGeom>
          <a:noFill/>
        </p:spPr>
        <p:txBody>
          <a:bodyPr wrap="square" lIns="0" rIns="0" tIns="0" bIns="0">
            <a:spAutoFit/>
          </a:bodyPr>
          <a:lstStyle/>
          <a:p>
            <a:pPr algn="l">
              <a:lnSpc>
                <a:spcPct val="90000"/>
              </a:lnSpc>
            </a:pPr>
            <a:r>
              <a:rPr sz="6000" b="1">
                <a:solidFill>
                  <a:srgbClr val="B23A2F"/>
                </a:solidFill>
                <a:latin typeface="Archivo"/>
              </a:rPr>
              <a:t>1/9</a:t>
            </a:r>
          </a:p>
        </p:txBody>
      </p:sp>
      <p:sp>
        <p:nvSpPr>
          <p:cNvPr id="8" name="TextBox 7"/>
          <p:cNvSpPr txBox="1"/>
          <p:nvPr/>
        </p:nvSpPr>
        <p:spPr>
          <a:xfrm>
            <a:off x="2944368" y="2011680"/>
            <a:ext cx="8138160" cy="822960"/>
          </a:xfrm>
          <a:prstGeom prst="rect">
            <a:avLst/>
          </a:prstGeom>
          <a:noFill/>
        </p:spPr>
        <p:txBody>
          <a:bodyPr wrap="square" lIns="0" rIns="0" tIns="0" bIns="0">
            <a:spAutoFit/>
          </a:bodyPr>
          <a:lstStyle/>
          <a:p>
            <a:pPr algn="l">
              <a:lnSpc>
                <a:spcPct val="135000"/>
              </a:lnSpc>
            </a:pPr>
            <a:r>
              <a:rPr sz="1300" b="0">
                <a:solidFill>
                  <a:srgbClr val="42555C"/>
                </a:solidFill>
                <a:latin typeface="IBM Plex Sans"/>
              </a:rPr>
              <a:t>expected behaviours reported across seven clips of genuine loading-bay operations. Not silent — incidents on 5 of 7 clips — but mostly the two loosest detectors rather than the behaviour each clip was recorded to show.</a:t>
            </a:r>
          </a:p>
        </p:txBody>
      </p:sp>
      <p:sp>
        <p:nvSpPr>
          <p:cNvPr id="9" name="Rectangle 8"/>
          <p:cNvSpPr/>
          <p:nvPr/>
        </p:nvSpPr>
        <p:spPr>
          <a:xfrm>
            <a:off x="658368" y="3017520"/>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154680"/>
            <a:ext cx="10424160" cy="274320"/>
          </a:xfrm>
          <a:prstGeom prst="rect">
            <a:avLst/>
          </a:prstGeom>
          <a:noFill/>
        </p:spPr>
        <p:txBody>
          <a:bodyPr wrap="square" lIns="0" rIns="0" tIns="0" bIns="0">
            <a:spAutoFit/>
          </a:bodyPr>
          <a:lstStyle/>
          <a:p>
            <a:pPr algn="l">
              <a:lnSpc>
                <a:spcPct val="118000"/>
              </a:lnSpc>
            </a:pPr>
            <a:r>
              <a:rPr sz="1250" b="0">
                <a:solidFill>
                  <a:srgbClr val="42555C"/>
                </a:solidFill>
                <a:latin typeface="IBM Plex Sans"/>
              </a:rPr>
              <a:t>This is the number we lead with, because everything on the previous slide was measured on clips that could not fail in these ways. One afternoon of real footage found four defects:</a:t>
            </a:r>
          </a:p>
        </p:txBody>
      </p:sp>
      <p:sp>
        <p:nvSpPr>
          <p:cNvPr id="11" name="Rectangle 10"/>
          <p:cNvSpPr/>
          <p:nvPr/>
        </p:nvSpPr>
        <p:spPr>
          <a:xfrm>
            <a:off x="658368" y="3584448"/>
            <a:ext cx="28575" cy="621792"/>
          </a:xfrm>
          <a:prstGeom prst="rect">
            <a:avLst/>
          </a:prstGeom>
          <a:solidFill>
            <a:srgbClr val="2E77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3566160"/>
            <a:ext cx="10972800" cy="658368"/>
          </a:xfrm>
          <a:prstGeom prst="rect">
            <a:avLst/>
          </a:prstGeom>
          <a:noFill/>
        </p:spPr>
        <p:txBody>
          <a:bodyPr wrap="square" lIns="0" rIns="0" tIns="0" bIns="0">
            <a:spAutoFit/>
          </a:bodyPr>
          <a:lstStyle/>
          <a:p>
            <a:pPr algn="l">
              <a:lnSpc>
                <a:spcPct val="118000"/>
              </a:lnSpc>
            </a:pPr>
            <a:r>
              <a:rPr sz="800" b="1">
                <a:solidFill>
                  <a:srgbClr val="2E7767"/>
                </a:solidFill>
                <a:latin typeface="IBM Plex Mono"/>
              </a:rPr>
              <a:t>FIXED</a:t>
            </a:r>
          </a:p>
          <a:p>
            <a:pPr algn="l">
              <a:lnSpc>
                <a:spcPct val="118000"/>
              </a:lnSpc>
              <a:spcBef>
                <a:spcPts val="100"/>
              </a:spcBef>
            </a:pPr>
            <a:r>
              <a:rPr sz="1200" b="1">
                <a:solidFill>
                  <a:srgbClr val="12191C"/>
                </a:solidFill>
                <a:latin typeface="IBM Plex Sans"/>
              </a:rPr>
              <a:t>A config knob was declared and read by nothing.</a:t>
            </a:r>
          </a:p>
          <a:p>
            <a:pPr algn="l">
              <a:lnSpc>
                <a:spcPct val="120000"/>
              </a:lnSpc>
              <a:spcBef>
                <a:spcPts val="100"/>
              </a:spcBef>
            </a:pPr>
            <a:r>
              <a:rPr sz="1000" b="0">
                <a:solidFill>
                  <a:srgbClr val="42555C"/>
                </a:solidFill>
                <a:latin typeface="IBM Plex Sans"/>
              </a:rPr>
              <a:t>min_track_age_frames sat in the config, documented, wired to nothing. A one-frame-old track's first velocity is a full-magnitude jump — on soft footage that is jitter, and it fired throw on clips of people dragging.</a:t>
            </a:r>
          </a:p>
        </p:txBody>
      </p:sp>
      <p:sp>
        <p:nvSpPr>
          <p:cNvPr id="13" name="Rectangle 12"/>
          <p:cNvSpPr/>
          <p:nvPr/>
        </p:nvSpPr>
        <p:spPr>
          <a:xfrm>
            <a:off x="658368" y="4315968"/>
            <a:ext cx="28575" cy="621792"/>
          </a:xfrm>
          <a:prstGeom prst="rect">
            <a:avLst/>
          </a:prstGeom>
          <a:solidFill>
            <a:srgbClr val="2E77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4297680"/>
            <a:ext cx="10972800" cy="658368"/>
          </a:xfrm>
          <a:prstGeom prst="rect">
            <a:avLst/>
          </a:prstGeom>
          <a:noFill/>
        </p:spPr>
        <p:txBody>
          <a:bodyPr wrap="square" lIns="0" rIns="0" tIns="0" bIns="0">
            <a:spAutoFit/>
          </a:bodyPr>
          <a:lstStyle/>
          <a:p>
            <a:pPr algn="l">
              <a:lnSpc>
                <a:spcPct val="118000"/>
              </a:lnSpc>
            </a:pPr>
            <a:r>
              <a:rPr sz="800" b="1">
                <a:solidFill>
                  <a:srgbClr val="2E7767"/>
                </a:solidFill>
                <a:latin typeface="IBM Plex Mono"/>
              </a:rPr>
              <a:t>FIXED</a:t>
            </a:r>
          </a:p>
          <a:p>
            <a:pPr algn="l">
              <a:lnSpc>
                <a:spcPct val="118000"/>
              </a:lnSpc>
              <a:spcBef>
                <a:spcPts val="100"/>
              </a:spcBef>
            </a:pPr>
            <a:r>
              <a:rPr sz="1200" b="1">
                <a:solidFill>
                  <a:srgbClr val="12191C"/>
                </a:solidFill>
                <a:latin typeface="IBM Plex Sans"/>
              </a:rPr>
              <a:t>A single horizontal floor line cannot describe a perspective view.</a:t>
            </a:r>
          </a:p>
          <a:p>
            <a:pPr algn="l">
              <a:lnSpc>
                <a:spcPct val="120000"/>
              </a:lnSpc>
              <a:spcBef>
                <a:spcPts val="100"/>
              </a:spcBef>
            </a:pPr>
            <a:r>
              <a:rPr sz="1000" b="0">
                <a:solidFill>
                  <a:srgbClr val="42555C"/>
                </a:solidFill>
                <a:latin typeface="IBM Plex Sans"/>
              </a:rPr>
              <a:t>One line puts a box on the floor at one depth and a metre up at another — why drag never fired on any of four dragging clips. The nearest person's feet are now the ground reference.</a:t>
            </a:r>
          </a:p>
        </p:txBody>
      </p:sp>
      <p:sp>
        <p:nvSpPr>
          <p:cNvPr id="15" name="Rectangle 14"/>
          <p:cNvSpPr/>
          <p:nvPr/>
        </p:nvSpPr>
        <p:spPr>
          <a:xfrm>
            <a:off x="658368" y="5047488"/>
            <a:ext cx="28575" cy="621792"/>
          </a:xfrm>
          <a:prstGeom prst="rect">
            <a:avLst/>
          </a:prstGeom>
          <a:solidFill>
            <a:srgbClr val="2E77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5029200"/>
            <a:ext cx="10972800" cy="658368"/>
          </a:xfrm>
          <a:prstGeom prst="rect">
            <a:avLst/>
          </a:prstGeom>
          <a:noFill/>
        </p:spPr>
        <p:txBody>
          <a:bodyPr wrap="square" lIns="0" rIns="0" tIns="0" bIns="0">
            <a:spAutoFit/>
          </a:bodyPr>
          <a:lstStyle/>
          <a:p>
            <a:pPr algn="l">
              <a:lnSpc>
                <a:spcPct val="118000"/>
              </a:lnSpc>
            </a:pPr>
            <a:r>
              <a:rPr sz="800" b="1">
                <a:solidFill>
                  <a:srgbClr val="2E7767"/>
                </a:solidFill>
                <a:latin typeface="IBM Plex Mono"/>
              </a:rPr>
              <a:t>FIXED</a:t>
            </a:r>
          </a:p>
          <a:p>
            <a:pPr algn="l">
              <a:lnSpc>
                <a:spcPct val="118000"/>
              </a:lnSpc>
              <a:spcBef>
                <a:spcPts val="100"/>
              </a:spcBef>
            </a:pPr>
            <a:r>
              <a:rPr sz="1200" b="1">
                <a:solidFill>
                  <a:srgbClr val="12191C"/>
                </a:solidFill>
                <a:latin typeface="IBM Plex Sans"/>
              </a:rPr>
              <a:t>“Held by a person” was true in 100% of frames.</a:t>
            </a:r>
          </a:p>
          <a:p>
            <a:pPr algn="l">
              <a:lnSpc>
                <a:spcPct val="120000"/>
              </a:lnSpc>
              <a:spcBef>
                <a:spcPts val="100"/>
              </a:spcBef>
            </a:pPr>
            <a:r>
              <a:rPr sz="1000" b="0">
                <a:solidFill>
                  <a:srgbClr val="42555C"/>
                </a:solidFill>
                <a:latin typeface="IBM Plex Sans"/>
              </a:rPr>
              <a:t>Overlap plus any vertical intersection means “somebody is standing behind it”. A thrown carton read as held throughout, so the throw detector could not fire by construction.</a:t>
            </a:r>
          </a:p>
        </p:txBody>
      </p:sp>
      <p:sp>
        <p:nvSpPr>
          <p:cNvPr id="17" name="Rectangle 16"/>
          <p:cNvSpPr/>
          <p:nvPr/>
        </p:nvSpPr>
        <p:spPr>
          <a:xfrm>
            <a:off x="658368" y="5779008"/>
            <a:ext cx="28575" cy="621792"/>
          </a:xfrm>
          <a:prstGeom prst="rect">
            <a:avLst/>
          </a:prstGeom>
          <a:solidFill>
            <a:srgbClr val="B23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5760720"/>
            <a:ext cx="10972800" cy="658368"/>
          </a:xfrm>
          <a:prstGeom prst="rect">
            <a:avLst/>
          </a:prstGeom>
          <a:noFill/>
        </p:spPr>
        <p:txBody>
          <a:bodyPr wrap="square" lIns="0" rIns="0" tIns="0" bIns="0">
            <a:spAutoFit/>
          </a:bodyPr>
          <a:lstStyle/>
          <a:p>
            <a:pPr algn="l">
              <a:lnSpc>
                <a:spcPct val="118000"/>
              </a:lnSpc>
            </a:pPr>
            <a:r>
              <a:rPr sz="800" b="1">
                <a:solidFill>
                  <a:srgbClr val="B23A2F"/>
                </a:solidFill>
                <a:latin typeface="IBM Plex Mono"/>
              </a:rPr>
              <a:t>NOT FIXABLE BY TUNING</a:t>
            </a:r>
          </a:p>
          <a:p>
            <a:pPr algn="l">
              <a:lnSpc>
                <a:spcPct val="118000"/>
              </a:lnSpc>
              <a:spcBef>
                <a:spcPts val="100"/>
              </a:spcBef>
            </a:pPr>
            <a:r>
              <a:rPr sz="1200" b="1">
                <a:solidFill>
                  <a:srgbClr val="12191C"/>
                </a:solidFill>
                <a:latin typeface="IBM Plex Sans"/>
              </a:rPr>
              <a:t>Throw and drag are not separable on this footage.</a:t>
            </a:r>
          </a:p>
          <a:p>
            <a:pPr algn="l">
              <a:lnSpc>
                <a:spcPct val="120000"/>
              </a:lnSpc>
              <a:spcBef>
                <a:spcPts val="100"/>
              </a:spcBef>
            </a:pPr>
            <a:r>
              <a:rPr sz="1000" b="0">
                <a:solidFill>
                  <a:srgbClr val="42555C"/>
                </a:solidFill>
                <a:latin typeface="IBM Plex Sans"/>
              </a:rPr>
              <a:t>Vertical acceleration p99 is ~48 object-heights/s² against a free-fall value of ~20 — below the noise floor of box jitter. A ballistic test was designed, then not built: measuring first showed it could not work.</a:t>
            </a:r>
          </a:p>
        </p:txBody>
      </p:sp>
      <p:sp>
        <p:nvSpPr>
          <p:cNvPr id="19" name="TextBox 18"/>
          <p:cNvSpPr txBox="1"/>
          <p:nvPr/>
        </p:nvSpPr>
        <p:spPr>
          <a:xfrm>
            <a:off x="658368" y="6528816"/>
            <a:ext cx="10972800" cy="274320"/>
          </a:xfrm>
          <a:prstGeom prst="rect">
            <a:avLst/>
          </a:prstGeom>
          <a:noFill/>
        </p:spPr>
        <p:txBody>
          <a:bodyPr wrap="square" lIns="0" rIns="0" tIns="0" bIns="0">
            <a:spAutoFit/>
          </a:bodyPr>
          <a:lstStyle/>
          <a:p>
            <a:pPr algn="l">
              <a:lnSpc>
                <a:spcPct val="118000"/>
              </a:lnSpc>
            </a:pPr>
            <a:r>
              <a:rPr sz="1050" b="0">
                <a:solidFill>
                  <a:srgbClr val="42555C"/>
                </a:solidFill>
                <a:latin typeface="IBM Plex Sans"/>
              </a:rPr>
              <a:t>Precision on real footage is unmeasurable, and labelled that way: session 1 has no hard-negative clip, so every clip is a positive and a detector that fired constantly would score perfectly.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58368" y="402336"/>
            <a:ext cx="8229600" cy="274320"/>
          </a:xfrm>
          <a:prstGeom prst="rect">
            <a:avLst/>
          </a:prstGeom>
          <a:noFill/>
        </p:spPr>
        <p:txBody>
          <a:bodyPr wrap="square" lIns="0" rIns="0" tIns="0" bIns="0">
            <a:spAutoFit/>
          </a:bodyPr>
          <a:lstStyle/>
          <a:p>
            <a:pPr algn="l">
              <a:lnSpc>
                <a:spcPct val="118000"/>
              </a:lnSpc>
            </a:pPr>
            <a:r>
              <a:rPr sz="1050" b="1">
                <a:solidFill>
                  <a:srgbClr val="C8961A"/>
                </a:solidFill>
                <a:latin typeface="IBM Plex Mono"/>
              </a:rPr>
              <a:t>NEXT   ORDERED BY VALUE PER HOUR</a:t>
            </a:r>
          </a:p>
        </p:txBody>
      </p:sp>
      <p:sp>
        <p:nvSpPr>
          <p:cNvPr id="3" name="TextBox 2"/>
          <p:cNvSpPr txBox="1"/>
          <p:nvPr/>
        </p:nvSpPr>
        <p:spPr>
          <a:xfrm>
            <a:off x="10253167" y="402336"/>
            <a:ext cx="1280160" cy="274320"/>
          </a:xfrm>
          <a:prstGeom prst="rect">
            <a:avLst/>
          </a:prstGeom>
          <a:noFill/>
        </p:spPr>
        <p:txBody>
          <a:bodyPr wrap="square" lIns="0" rIns="0" tIns="0" bIns="0">
            <a:spAutoFit/>
          </a:bodyPr>
          <a:lstStyle/>
          <a:p>
            <a:pPr algn="r">
              <a:lnSpc>
                <a:spcPct val="118000"/>
              </a:lnSpc>
            </a:pPr>
            <a:r>
              <a:rPr sz="1050" b="0">
                <a:solidFill>
                  <a:srgbClr val="728A93"/>
                </a:solidFill>
                <a:latin typeface="IBM Plex Mono"/>
              </a:rPr>
              <a:t>06 / 06</a:t>
            </a:r>
          </a:p>
        </p:txBody>
      </p:sp>
      <p:sp>
        <p:nvSpPr>
          <p:cNvPr id="4" name="Rectangle 3"/>
          <p:cNvSpPr/>
          <p:nvPr/>
        </p:nvSpPr>
        <p:spPr>
          <a:xfrm>
            <a:off x="658368" y="713232"/>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051560"/>
            <a:ext cx="9601200" cy="731520"/>
          </a:xfrm>
          <a:prstGeom prst="rect">
            <a:avLst/>
          </a:prstGeom>
          <a:noFill/>
        </p:spPr>
        <p:txBody>
          <a:bodyPr wrap="square" lIns="0" rIns="0" tIns="0" bIns="0">
            <a:spAutoFit/>
          </a:bodyPr>
          <a:lstStyle/>
          <a:p>
            <a:pPr algn="l">
              <a:lnSpc>
                <a:spcPct val="102000"/>
              </a:lnSpc>
            </a:pPr>
            <a:r>
              <a:rPr sz="3300" b="1">
                <a:solidFill>
                  <a:srgbClr val="12191C"/>
                </a:solidFill>
                <a:latin typeface="Archivo"/>
              </a:rPr>
              <a:t>Four things move this further than any amount of tuning.</a:t>
            </a:r>
          </a:p>
        </p:txBody>
      </p:sp>
      <p:sp>
        <p:nvSpPr>
          <p:cNvPr id="6" name="TextBox 5"/>
          <p:cNvSpPr txBox="1"/>
          <p:nvPr/>
        </p:nvSpPr>
        <p:spPr>
          <a:xfrm>
            <a:off x="658368" y="2011680"/>
            <a:ext cx="457200" cy="274320"/>
          </a:xfrm>
          <a:prstGeom prst="rect">
            <a:avLst/>
          </a:prstGeom>
          <a:noFill/>
        </p:spPr>
        <p:txBody>
          <a:bodyPr wrap="square" lIns="0" rIns="0" tIns="0" bIns="0">
            <a:spAutoFit/>
          </a:bodyPr>
          <a:lstStyle/>
          <a:p>
            <a:pPr algn="l">
              <a:lnSpc>
                <a:spcPct val="118000"/>
              </a:lnSpc>
            </a:pPr>
            <a:r>
              <a:rPr sz="1100" b="1">
                <a:solidFill>
                  <a:srgbClr val="C8961A"/>
                </a:solidFill>
                <a:latin typeface="IBM Plex Mono"/>
              </a:rPr>
              <a:t>01</a:t>
            </a:r>
          </a:p>
        </p:txBody>
      </p:sp>
      <p:sp>
        <p:nvSpPr>
          <p:cNvPr id="7" name="TextBox 6"/>
          <p:cNvSpPr txBox="1"/>
          <p:nvPr/>
        </p:nvSpPr>
        <p:spPr>
          <a:xfrm>
            <a:off x="1161288" y="1984248"/>
            <a:ext cx="9875520" cy="822960"/>
          </a:xfrm>
          <a:prstGeom prst="rect">
            <a:avLst/>
          </a:prstGeom>
          <a:noFill/>
        </p:spPr>
        <p:txBody>
          <a:bodyPr wrap="square" lIns="0" rIns="0" tIns="0" bIns="0">
            <a:spAutoFit/>
          </a:bodyPr>
          <a:lstStyle/>
          <a:p>
            <a:pPr algn="l">
              <a:lnSpc>
                <a:spcPct val="118000"/>
              </a:lnSpc>
            </a:pPr>
            <a:r>
              <a:rPr sz="1400" b="1">
                <a:solidFill>
                  <a:srgbClr val="12191C"/>
                </a:solidFill>
                <a:latin typeface="IBM Plex Sans"/>
              </a:rPr>
              <a:t>Sixty seconds of ordinary handling</a:t>
            </a:r>
          </a:p>
          <a:p>
            <a:pPr algn="l">
              <a:lnSpc>
                <a:spcPct val="130000"/>
              </a:lnSpc>
              <a:spcBef>
                <a:spcPts val="200"/>
              </a:spcBef>
            </a:pPr>
            <a:r>
              <a:rPr sz="1150" b="0">
                <a:solidFill>
                  <a:srgbClr val="42555C"/>
                </a:solidFill>
                <a:latin typeface="IBM Plex Sans"/>
              </a:rPr>
              <a:t>One clip where nothing bad happens. Without it, precision on real footage stays permanently unmeasurable and the alarm rates cannot be interpreted at all. Cheapest item here, highest value.</a:t>
            </a:r>
          </a:p>
        </p:txBody>
      </p:sp>
      <p:sp>
        <p:nvSpPr>
          <p:cNvPr id="8" name="Rectangle 7"/>
          <p:cNvSpPr/>
          <p:nvPr/>
        </p:nvSpPr>
        <p:spPr>
          <a:xfrm>
            <a:off x="658368" y="2816352"/>
            <a:ext cx="10874959" cy="9525"/>
          </a:xfrm>
          <a:prstGeom prst="rect">
            <a:avLst/>
          </a:prstGeom>
          <a:solidFill>
            <a:srgbClr val="DE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944368"/>
            <a:ext cx="457200" cy="274320"/>
          </a:xfrm>
          <a:prstGeom prst="rect">
            <a:avLst/>
          </a:prstGeom>
          <a:noFill/>
        </p:spPr>
        <p:txBody>
          <a:bodyPr wrap="square" lIns="0" rIns="0" tIns="0" bIns="0">
            <a:spAutoFit/>
          </a:bodyPr>
          <a:lstStyle/>
          <a:p>
            <a:pPr algn="l">
              <a:lnSpc>
                <a:spcPct val="118000"/>
              </a:lnSpc>
            </a:pPr>
            <a:r>
              <a:rPr sz="1100" b="1">
                <a:solidFill>
                  <a:srgbClr val="C8961A"/>
                </a:solidFill>
                <a:latin typeface="IBM Plex Mono"/>
              </a:rPr>
              <a:t>02</a:t>
            </a:r>
          </a:p>
        </p:txBody>
      </p:sp>
      <p:sp>
        <p:nvSpPr>
          <p:cNvPr id="10" name="TextBox 9"/>
          <p:cNvSpPr txBox="1"/>
          <p:nvPr/>
        </p:nvSpPr>
        <p:spPr>
          <a:xfrm>
            <a:off x="1161288" y="2916936"/>
            <a:ext cx="9875520" cy="822960"/>
          </a:xfrm>
          <a:prstGeom prst="rect">
            <a:avLst/>
          </a:prstGeom>
          <a:noFill/>
        </p:spPr>
        <p:txBody>
          <a:bodyPr wrap="square" lIns="0" rIns="0" tIns="0" bIns="0">
            <a:spAutoFit/>
          </a:bodyPr>
          <a:lstStyle/>
          <a:p>
            <a:pPr algn="l">
              <a:lnSpc>
                <a:spcPct val="118000"/>
              </a:lnSpc>
            </a:pPr>
            <a:r>
              <a:rPr sz="1400" b="1">
                <a:solidFill>
                  <a:srgbClr val="12191C"/>
                </a:solidFill>
                <a:latin typeface="IBM Plex Sans"/>
              </a:rPr>
              <a:t>Start and end times logged at record time</a:t>
            </a:r>
          </a:p>
          <a:p>
            <a:pPr algn="l">
              <a:lnSpc>
                <a:spcPct val="130000"/>
              </a:lnSpc>
              <a:spcBef>
                <a:spcPts val="200"/>
              </a:spcBef>
            </a:pPr>
            <a:r>
              <a:rPr sz="1150" b="0">
                <a:solidFill>
                  <a:srgbClr val="42555C"/>
                </a:solidFill>
                <a:latin typeface="IBM Plex Sans"/>
              </a:rPr>
              <a:t>Turns a clip-level presence check into real precision and recall. Reconstructing spans afterwards means scoring the system against labels drawn after seeing what the system did.</a:t>
            </a:r>
          </a:p>
        </p:txBody>
      </p:sp>
      <p:sp>
        <p:nvSpPr>
          <p:cNvPr id="11" name="Rectangle 10"/>
          <p:cNvSpPr/>
          <p:nvPr/>
        </p:nvSpPr>
        <p:spPr>
          <a:xfrm>
            <a:off x="658368" y="3749040"/>
            <a:ext cx="10874959" cy="9525"/>
          </a:xfrm>
          <a:prstGeom prst="rect">
            <a:avLst/>
          </a:prstGeom>
          <a:solidFill>
            <a:srgbClr val="DE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877056"/>
            <a:ext cx="457200" cy="274320"/>
          </a:xfrm>
          <a:prstGeom prst="rect">
            <a:avLst/>
          </a:prstGeom>
          <a:noFill/>
        </p:spPr>
        <p:txBody>
          <a:bodyPr wrap="square" lIns="0" rIns="0" tIns="0" bIns="0">
            <a:spAutoFit/>
          </a:bodyPr>
          <a:lstStyle/>
          <a:p>
            <a:pPr algn="l">
              <a:lnSpc>
                <a:spcPct val="118000"/>
              </a:lnSpc>
            </a:pPr>
            <a:r>
              <a:rPr sz="1100" b="1">
                <a:solidFill>
                  <a:srgbClr val="C8961A"/>
                </a:solidFill>
                <a:latin typeface="IBM Plex Mono"/>
              </a:rPr>
              <a:t>03</a:t>
            </a:r>
          </a:p>
        </p:txBody>
      </p:sp>
      <p:sp>
        <p:nvSpPr>
          <p:cNvPr id="13" name="TextBox 12"/>
          <p:cNvSpPr txBox="1"/>
          <p:nvPr/>
        </p:nvSpPr>
        <p:spPr>
          <a:xfrm>
            <a:off x="1161288" y="3849624"/>
            <a:ext cx="9875520" cy="822960"/>
          </a:xfrm>
          <a:prstGeom prst="rect">
            <a:avLst/>
          </a:prstGeom>
          <a:noFill/>
        </p:spPr>
        <p:txBody>
          <a:bodyPr wrap="square" lIns="0" rIns="0" tIns="0" bIns="0">
            <a:spAutoFit/>
          </a:bodyPr>
          <a:lstStyle/>
          <a:p>
            <a:pPr algn="l">
              <a:lnSpc>
                <a:spcPct val="118000"/>
              </a:lnSpc>
            </a:pPr>
            <a:r>
              <a:rPr sz="1400" b="1">
                <a:solidFill>
                  <a:srgbClr val="12191C"/>
                </a:solidFill>
                <a:latin typeface="IBM Plex Sans"/>
              </a:rPr>
              <a:t>Direct camera export</a:t>
            </a:r>
          </a:p>
          <a:p>
            <a:pPr algn="l">
              <a:lnSpc>
                <a:spcPct val="130000"/>
              </a:lnSpc>
              <a:spcBef>
                <a:spcPts val="200"/>
              </a:spcBef>
            </a:pPr>
            <a:r>
              <a:rPr sz="1150" b="0">
                <a:solidFill>
                  <a:srgbClr val="42555C"/>
                </a:solidFill>
                <a:latin typeface="IBM Plex Sans"/>
              </a:rPr>
              <a:t>Session 1 is a phone recording of a CCTV playback window. Exporting from the recorder removes two lossy encodes, the screen moiré, the software chrome and the drawn-on annotations in one step.</a:t>
            </a:r>
          </a:p>
        </p:txBody>
      </p:sp>
      <p:sp>
        <p:nvSpPr>
          <p:cNvPr id="14" name="Rectangle 13"/>
          <p:cNvSpPr/>
          <p:nvPr/>
        </p:nvSpPr>
        <p:spPr>
          <a:xfrm>
            <a:off x="658368" y="4681728"/>
            <a:ext cx="10874959" cy="9525"/>
          </a:xfrm>
          <a:prstGeom prst="rect">
            <a:avLst/>
          </a:prstGeom>
          <a:solidFill>
            <a:srgbClr val="DE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809744"/>
            <a:ext cx="457200" cy="274320"/>
          </a:xfrm>
          <a:prstGeom prst="rect">
            <a:avLst/>
          </a:prstGeom>
          <a:noFill/>
        </p:spPr>
        <p:txBody>
          <a:bodyPr wrap="square" lIns="0" rIns="0" tIns="0" bIns="0">
            <a:spAutoFit/>
          </a:bodyPr>
          <a:lstStyle/>
          <a:p>
            <a:pPr algn="l">
              <a:lnSpc>
                <a:spcPct val="118000"/>
              </a:lnSpc>
            </a:pPr>
            <a:r>
              <a:rPr sz="1100" b="1">
                <a:solidFill>
                  <a:srgbClr val="C8961A"/>
                </a:solidFill>
                <a:latin typeface="IBM Plex Mono"/>
              </a:rPr>
              <a:t>04</a:t>
            </a:r>
          </a:p>
        </p:txBody>
      </p:sp>
      <p:sp>
        <p:nvSpPr>
          <p:cNvPr id="16" name="TextBox 15"/>
          <p:cNvSpPr txBox="1"/>
          <p:nvPr/>
        </p:nvSpPr>
        <p:spPr>
          <a:xfrm>
            <a:off x="1161288" y="4782312"/>
            <a:ext cx="9875520" cy="822960"/>
          </a:xfrm>
          <a:prstGeom prst="rect">
            <a:avLst/>
          </a:prstGeom>
          <a:noFill/>
        </p:spPr>
        <p:txBody>
          <a:bodyPr wrap="square" lIns="0" rIns="0" tIns="0" bIns="0">
            <a:spAutoFit/>
          </a:bodyPr>
          <a:lstStyle/>
          <a:p>
            <a:pPr algn="l">
              <a:lnSpc>
                <a:spcPct val="118000"/>
              </a:lnSpc>
            </a:pPr>
            <a:r>
              <a:rPr sz="1400" b="1">
                <a:solidFill>
                  <a:srgbClr val="12191C"/>
                </a:solidFill>
                <a:latin typeface="IBM Plex Sans"/>
              </a:rPr>
              <a:t>Closer framing</a:t>
            </a:r>
          </a:p>
          <a:p>
            <a:pPr algn="l">
              <a:lnSpc>
                <a:spcPct val="130000"/>
              </a:lnSpc>
              <a:spcBef>
                <a:spcPts val="200"/>
              </a:spcBef>
            </a:pPr>
            <a:r>
              <a:rPr sz="1150" b="0">
                <a:solidFill>
                  <a:srgbClr val="42555C"/>
                </a:solidFill>
                <a:latin typeface="IBM Plex Sans"/>
              </a:rPr>
              <a:t>A carton is currently ~200 px tall. Raise that and the acceleration signal rises above box jitter — the one thing standing between throw and drag being separable at all.</a:t>
            </a:r>
          </a:p>
        </p:txBody>
      </p:sp>
      <p:sp>
        <p:nvSpPr>
          <p:cNvPr id="17" name="Rectangle 16"/>
          <p:cNvSpPr/>
          <p:nvPr/>
        </p:nvSpPr>
        <p:spPr>
          <a:xfrm>
            <a:off x="658368" y="5614416"/>
            <a:ext cx="10874959" cy="9525"/>
          </a:xfrm>
          <a:prstGeom prst="rect">
            <a:avLst/>
          </a:prstGeom>
          <a:solidFill>
            <a:srgbClr val="DE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89320"/>
            <a:ext cx="10424160" cy="365760"/>
          </a:xfrm>
          <a:prstGeom prst="rect">
            <a:avLst/>
          </a:prstGeom>
          <a:noFill/>
        </p:spPr>
        <p:txBody>
          <a:bodyPr wrap="square" lIns="0" rIns="0" tIns="0" bIns="0">
            <a:spAutoFit/>
          </a:bodyPr>
          <a:lstStyle/>
          <a:p>
            <a:pPr algn="l">
              <a:lnSpc>
                <a:spcPct val="118000"/>
              </a:lnSpc>
            </a:pPr>
            <a:r>
              <a:rPr sz="1150" b="0">
                <a:solidFill>
                  <a:srgbClr val="42555C"/>
                </a:solidFill>
                <a:latin typeface="IBM Plex Sans"/>
              </a:rPr>
              <a:t>Every number here is traceable to a file: the claims ledger in STATE.md lists each one, where it was measured, and which are still marked not measured.</a:t>
            </a:r>
          </a:p>
        </p:txBody>
      </p:sp>
      <p:sp>
        <p:nvSpPr>
          <p:cNvPr id="19" name="Rectangle 18"/>
          <p:cNvSpPr/>
          <p:nvPr/>
        </p:nvSpPr>
        <p:spPr>
          <a:xfrm>
            <a:off x="658368" y="6419088"/>
            <a:ext cx="10874959" cy="9525"/>
          </a:xfrm>
          <a:prstGeom prst="rect">
            <a:avLst/>
          </a:prstGeom>
          <a:solidFill>
            <a:srgbClr val="CB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528816"/>
            <a:ext cx="10424160" cy="274320"/>
          </a:xfrm>
          <a:prstGeom prst="rect">
            <a:avLst/>
          </a:prstGeom>
          <a:noFill/>
        </p:spPr>
        <p:txBody>
          <a:bodyPr wrap="square" lIns="0" rIns="0" tIns="0" bIns="0">
            <a:spAutoFit/>
          </a:bodyPr>
          <a:lstStyle/>
          <a:p>
            <a:pPr algn="l">
              <a:lnSpc>
                <a:spcPct val="118000"/>
              </a:lnSpc>
            </a:pPr>
            <a:r>
              <a:rPr sz="900" b="0">
                <a:solidFill>
                  <a:srgbClr val="728A93"/>
                </a:solidFill>
                <a:latin typeface="IBM Plex Mono"/>
              </a:rPr>
              <a:t>TEAM BAY 9    ·    SPOC ANIRUDH BADAMPUDI    ·    DOCKSENSE    ·    HACKATHON PROTOTYPE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